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8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52169" y="1888972"/>
            <a:ext cx="6170294" cy="5094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65341" y="900138"/>
            <a:ext cx="5450205" cy="104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089" y="1966721"/>
            <a:ext cx="12358369" cy="2452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0" i="0">
                <a:solidFill>
                  <a:srgbClr val="9F61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your.email@example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3789" y="1498396"/>
            <a:ext cx="1979295" cy="373380"/>
            <a:chOff x="793789" y="1498396"/>
            <a:chExt cx="1979295" cy="373380"/>
          </a:xfrm>
        </p:grpSpPr>
        <p:sp>
          <p:nvSpPr>
            <p:cNvPr id="3" name="object 3" descr=""/>
            <p:cNvSpPr/>
            <p:nvPr/>
          </p:nvSpPr>
          <p:spPr>
            <a:xfrm>
              <a:off x="793789" y="1498396"/>
              <a:ext cx="1979295" cy="373380"/>
            </a:xfrm>
            <a:custGeom>
              <a:avLst/>
              <a:gdLst/>
              <a:ahLst/>
              <a:cxnLst/>
              <a:rect l="l" t="t" r="r" b="b"/>
              <a:pathLst>
                <a:path w="1979295" h="373380">
                  <a:moveTo>
                    <a:pt x="1792249" y="0"/>
                  </a:moveTo>
                  <a:lnTo>
                    <a:pt x="186570" y="0"/>
                  </a:lnTo>
                  <a:lnTo>
                    <a:pt x="137212" y="6712"/>
                  </a:lnTo>
                  <a:lnTo>
                    <a:pt x="92711" y="25627"/>
                  </a:lnTo>
                  <a:lnTo>
                    <a:pt x="54904" y="54906"/>
                  </a:lnTo>
                  <a:lnTo>
                    <a:pt x="25625" y="92715"/>
                  </a:lnTo>
                  <a:lnTo>
                    <a:pt x="6712" y="137217"/>
                  </a:lnTo>
                  <a:lnTo>
                    <a:pt x="0" y="186575"/>
                  </a:lnTo>
                  <a:lnTo>
                    <a:pt x="6712" y="235933"/>
                  </a:lnTo>
                  <a:lnTo>
                    <a:pt x="25625" y="280432"/>
                  </a:lnTo>
                  <a:lnTo>
                    <a:pt x="54904" y="318238"/>
                  </a:lnTo>
                  <a:lnTo>
                    <a:pt x="92711" y="347514"/>
                  </a:lnTo>
                  <a:lnTo>
                    <a:pt x="137212" y="366426"/>
                  </a:lnTo>
                  <a:lnTo>
                    <a:pt x="186570" y="373138"/>
                  </a:lnTo>
                  <a:lnTo>
                    <a:pt x="1792249" y="373138"/>
                  </a:lnTo>
                  <a:lnTo>
                    <a:pt x="1841607" y="366426"/>
                  </a:lnTo>
                  <a:lnTo>
                    <a:pt x="1886109" y="347514"/>
                  </a:lnTo>
                  <a:lnTo>
                    <a:pt x="1923918" y="318238"/>
                  </a:lnTo>
                  <a:lnTo>
                    <a:pt x="1953197" y="280432"/>
                  </a:lnTo>
                  <a:lnTo>
                    <a:pt x="1972112" y="235933"/>
                  </a:lnTo>
                  <a:lnTo>
                    <a:pt x="1978825" y="186575"/>
                  </a:lnTo>
                  <a:lnTo>
                    <a:pt x="1972112" y="137217"/>
                  </a:lnTo>
                  <a:lnTo>
                    <a:pt x="1953197" y="92715"/>
                  </a:lnTo>
                  <a:lnTo>
                    <a:pt x="1923918" y="54906"/>
                  </a:lnTo>
                  <a:lnTo>
                    <a:pt x="1886109" y="25627"/>
                  </a:lnTo>
                  <a:lnTo>
                    <a:pt x="1841607" y="6712"/>
                  </a:lnTo>
                  <a:lnTo>
                    <a:pt x="1792249" y="0"/>
                  </a:lnTo>
                  <a:close/>
                </a:path>
              </a:pathLst>
            </a:custGeom>
            <a:solidFill>
              <a:srgbClr val="F4E4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2851" y="1605559"/>
              <a:ext cx="158710" cy="158711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138157" y="1605381"/>
            <a:ext cx="160401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3E3C3A"/>
                </a:solidFill>
                <a:latin typeface="Arial"/>
                <a:cs typeface="Arial"/>
              </a:rPr>
              <a:t>POWER</a:t>
            </a:r>
            <a:r>
              <a:rPr dirty="0" sz="12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3E3C3A"/>
                </a:solidFill>
                <a:latin typeface="Arial"/>
                <a:cs typeface="Arial"/>
              </a:rPr>
              <a:t>BI</a:t>
            </a:r>
            <a:r>
              <a:rPr dirty="0" sz="12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3E3C3A"/>
                </a:solidFill>
                <a:latin typeface="Arial"/>
                <a:cs typeface="Arial"/>
              </a:rPr>
              <a:t>PROJECT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9750"/>
              </a:lnSpc>
              <a:tabLst>
                <a:tab pos="4030979" algn="l"/>
                <a:tab pos="7499984" algn="l"/>
              </a:tabLst>
            </a:pPr>
            <a:r>
              <a:rPr dirty="0" spc="-10"/>
              <a:t>BLINKIT</a:t>
            </a:r>
            <a:r>
              <a:rPr dirty="0"/>
              <a:t>	</a:t>
            </a:r>
            <a:r>
              <a:rPr dirty="0" spc="-10"/>
              <a:t>SALES</a:t>
            </a:r>
            <a:r>
              <a:rPr dirty="0"/>
              <a:t>	</a:t>
            </a:r>
            <a:r>
              <a:rPr dirty="0" spc="-10"/>
              <a:t>ANALYSIS DASHBOARD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81089" y="4712411"/>
            <a:ext cx="1245870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comprehensive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Power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BI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project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analyzing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performance,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customer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trends,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insights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support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data-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driven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business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decision- making.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93789" y="5587606"/>
            <a:ext cx="4215765" cy="1143635"/>
          </a:xfrm>
          <a:custGeom>
            <a:avLst/>
            <a:gdLst/>
            <a:ahLst/>
            <a:cxnLst/>
            <a:rect l="l" t="t" r="r" b="b"/>
            <a:pathLst>
              <a:path w="4215765" h="1143634">
                <a:moveTo>
                  <a:pt x="3917569" y="0"/>
                </a:moveTo>
                <a:lnTo>
                  <a:pt x="297715" y="0"/>
                </a:lnTo>
                <a:lnTo>
                  <a:pt x="249692" y="3926"/>
                </a:lnTo>
                <a:lnTo>
                  <a:pt x="204037" y="15283"/>
                </a:lnTo>
                <a:lnTo>
                  <a:pt x="161384" y="33438"/>
                </a:lnTo>
                <a:lnTo>
                  <a:pt x="122364" y="57758"/>
                </a:lnTo>
                <a:lnTo>
                  <a:pt x="87612" y="87610"/>
                </a:lnTo>
                <a:lnTo>
                  <a:pt x="57759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845756"/>
                </a:lnTo>
                <a:lnTo>
                  <a:pt x="3926" y="893779"/>
                </a:lnTo>
                <a:lnTo>
                  <a:pt x="15283" y="939434"/>
                </a:lnTo>
                <a:lnTo>
                  <a:pt x="33438" y="982087"/>
                </a:lnTo>
                <a:lnTo>
                  <a:pt x="57759" y="1021106"/>
                </a:lnTo>
                <a:lnTo>
                  <a:pt x="87612" y="1055858"/>
                </a:lnTo>
                <a:lnTo>
                  <a:pt x="122364" y="1085711"/>
                </a:lnTo>
                <a:lnTo>
                  <a:pt x="161384" y="1110031"/>
                </a:lnTo>
                <a:lnTo>
                  <a:pt x="204037" y="1128186"/>
                </a:lnTo>
                <a:lnTo>
                  <a:pt x="249692" y="1139543"/>
                </a:lnTo>
                <a:lnTo>
                  <a:pt x="297715" y="1143469"/>
                </a:lnTo>
                <a:lnTo>
                  <a:pt x="3917569" y="1143469"/>
                </a:lnTo>
                <a:lnTo>
                  <a:pt x="3965592" y="1139543"/>
                </a:lnTo>
                <a:lnTo>
                  <a:pt x="4011248" y="1128186"/>
                </a:lnTo>
                <a:lnTo>
                  <a:pt x="4053902" y="1110031"/>
                </a:lnTo>
                <a:lnTo>
                  <a:pt x="4092923" y="1085711"/>
                </a:lnTo>
                <a:lnTo>
                  <a:pt x="4127677" y="1055858"/>
                </a:lnTo>
                <a:lnTo>
                  <a:pt x="4157532" y="1021106"/>
                </a:lnTo>
                <a:lnTo>
                  <a:pt x="4181854" y="982087"/>
                </a:lnTo>
                <a:lnTo>
                  <a:pt x="4200010" y="939434"/>
                </a:lnTo>
                <a:lnTo>
                  <a:pt x="4211368" y="893779"/>
                </a:lnTo>
                <a:lnTo>
                  <a:pt x="4215295" y="845756"/>
                </a:lnTo>
                <a:lnTo>
                  <a:pt x="4215295" y="297713"/>
                </a:lnTo>
                <a:lnTo>
                  <a:pt x="4211368" y="249690"/>
                </a:lnTo>
                <a:lnTo>
                  <a:pt x="4200010" y="204035"/>
                </a:lnTo>
                <a:lnTo>
                  <a:pt x="4181854" y="161382"/>
                </a:lnTo>
                <a:lnTo>
                  <a:pt x="4157532" y="122363"/>
                </a:lnTo>
                <a:lnTo>
                  <a:pt x="4127677" y="87610"/>
                </a:lnTo>
                <a:lnTo>
                  <a:pt x="4092923" y="57758"/>
                </a:lnTo>
                <a:lnTo>
                  <a:pt x="4053902" y="33438"/>
                </a:lnTo>
                <a:lnTo>
                  <a:pt x="4011248" y="15283"/>
                </a:lnTo>
                <a:lnTo>
                  <a:pt x="3965592" y="3926"/>
                </a:lnTo>
                <a:lnTo>
                  <a:pt x="3917569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79448" y="5775642"/>
            <a:ext cx="1786889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latin typeface="Arial"/>
                <a:cs typeface="Arial"/>
              </a:rPr>
              <a:t>PREPARED</a:t>
            </a:r>
            <a:r>
              <a:rPr dirty="0" sz="1950" spc="-80">
                <a:latin typeface="Arial"/>
                <a:cs typeface="Arial"/>
              </a:rPr>
              <a:t> </a:t>
            </a:r>
            <a:r>
              <a:rPr dirty="0" sz="1950" spc="-25">
                <a:latin typeface="Arial"/>
                <a:cs typeface="Arial"/>
              </a:rPr>
              <a:t>BY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550">
                <a:latin typeface="Arial"/>
                <a:cs typeface="Arial"/>
              </a:rPr>
              <a:t>[Ganesh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Chikne]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207431" y="5587606"/>
            <a:ext cx="4215765" cy="1143635"/>
          </a:xfrm>
          <a:custGeom>
            <a:avLst/>
            <a:gdLst/>
            <a:ahLst/>
            <a:cxnLst/>
            <a:rect l="l" t="t" r="r" b="b"/>
            <a:pathLst>
              <a:path w="4215765" h="1143634">
                <a:moveTo>
                  <a:pt x="3917696" y="0"/>
                </a:moveTo>
                <a:lnTo>
                  <a:pt x="297715" y="0"/>
                </a:lnTo>
                <a:lnTo>
                  <a:pt x="249692" y="3926"/>
                </a:lnTo>
                <a:lnTo>
                  <a:pt x="204037" y="15283"/>
                </a:lnTo>
                <a:lnTo>
                  <a:pt x="161384" y="33438"/>
                </a:lnTo>
                <a:lnTo>
                  <a:pt x="122364" y="57758"/>
                </a:lnTo>
                <a:lnTo>
                  <a:pt x="87612" y="87610"/>
                </a:lnTo>
                <a:lnTo>
                  <a:pt x="57759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845756"/>
                </a:lnTo>
                <a:lnTo>
                  <a:pt x="3926" y="893779"/>
                </a:lnTo>
                <a:lnTo>
                  <a:pt x="15283" y="939434"/>
                </a:lnTo>
                <a:lnTo>
                  <a:pt x="33438" y="982087"/>
                </a:lnTo>
                <a:lnTo>
                  <a:pt x="57759" y="1021106"/>
                </a:lnTo>
                <a:lnTo>
                  <a:pt x="87612" y="1055858"/>
                </a:lnTo>
                <a:lnTo>
                  <a:pt x="122364" y="1085711"/>
                </a:lnTo>
                <a:lnTo>
                  <a:pt x="161384" y="1110031"/>
                </a:lnTo>
                <a:lnTo>
                  <a:pt x="204037" y="1128186"/>
                </a:lnTo>
                <a:lnTo>
                  <a:pt x="249692" y="1139543"/>
                </a:lnTo>
                <a:lnTo>
                  <a:pt x="297715" y="1143469"/>
                </a:lnTo>
                <a:lnTo>
                  <a:pt x="3917696" y="1143469"/>
                </a:lnTo>
                <a:lnTo>
                  <a:pt x="3965719" y="1139543"/>
                </a:lnTo>
                <a:lnTo>
                  <a:pt x="4011373" y="1128186"/>
                </a:lnTo>
                <a:lnTo>
                  <a:pt x="4054027" y="1110031"/>
                </a:lnTo>
                <a:lnTo>
                  <a:pt x="4093046" y="1085711"/>
                </a:lnTo>
                <a:lnTo>
                  <a:pt x="4127798" y="1055858"/>
                </a:lnTo>
                <a:lnTo>
                  <a:pt x="4157651" y="1021106"/>
                </a:lnTo>
                <a:lnTo>
                  <a:pt x="4181971" y="982087"/>
                </a:lnTo>
                <a:lnTo>
                  <a:pt x="4200126" y="939434"/>
                </a:lnTo>
                <a:lnTo>
                  <a:pt x="4211483" y="893779"/>
                </a:lnTo>
                <a:lnTo>
                  <a:pt x="4215409" y="845756"/>
                </a:lnTo>
                <a:lnTo>
                  <a:pt x="4215409" y="297713"/>
                </a:lnTo>
                <a:lnTo>
                  <a:pt x="4211483" y="249690"/>
                </a:lnTo>
                <a:lnTo>
                  <a:pt x="4200126" y="204035"/>
                </a:lnTo>
                <a:lnTo>
                  <a:pt x="4181971" y="161382"/>
                </a:lnTo>
                <a:lnTo>
                  <a:pt x="4157651" y="122363"/>
                </a:lnTo>
                <a:lnTo>
                  <a:pt x="4127798" y="87610"/>
                </a:lnTo>
                <a:lnTo>
                  <a:pt x="4093046" y="57758"/>
                </a:lnTo>
                <a:lnTo>
                  <a:pt x="4054027" y="33438"/>
                </a:lnTo>
                <a:lnTo>
                  <a:pt x="4011373" y="15283"/>
                </a:lnTo>
                <a:lnTo>
                  <a:pt x="3965719" y="3926"/>
                </a:lnTo>
                <a:lnTo>
                  <a:pt x="3917696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393093" y="5775642"/>
            <a:ext cx="1140460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20">
                <a:latin typeface="Arial"/>
                <a:cs typeface="Arial"/>
              </a:rPr>
              <a:t>ROLE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550">
                <a:latin typeface="Arial"/>
                <a:cs typeface="Arial"/>
              </a:rPr>
              <a:t>Data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Analyst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621202" y="5587606"/>
            <a:ext cx="4215765" cy="1143635"/>
          </a:xfrm>
          <a:custGeom>
            <a:avLst/>
            <a:gdLst/>
            <a:ahLst/>
            <a:cxnLst/>
            <a:rect l="l" t="t" r="r" b="b"/>
            <a:pathLst>
              <a:path w="4215765" h="1143634">
                <a:moveTo>
                  <a:pt x="3917569" y="0"/>
                </a:moveTo>
                <a:lnTo>
                  <a:pt x="297715" y="0"/>
                </a:lnTo>
                <a:lnTo>
                  <a:pt x="249692" y="3926"/>
                </a:lnTo>
                <a:lnTo>
                  <a:pt x="204037" y="15283"/>
                </a:lnTo>
                <a:lnTo>
                  <a:pt x="161384" y="33438"/>
                </a:lnTo>
                <a:lnTo>
                  <a:pt x="122364" y="57758"/>
                </a:lnTo>
                <a:lnTo>
                  <a:pt x="87612" y="87610"/>
                </a:lnTo>
                <a:lnTo>
                  <a:pt x="57759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845756"/>
                </a:lnTo>
                <a:lnTo>
                  <a:pt x="3926" y="893779"/>
                </a:lnTo>
                <a:lnTo>
                  <a:pt x="15283" y="939434"/>
                </a:lnTo>
                <a:lnTo>
                  <a:pt x="33438" y="982087"/>
                </a:lnTo>
                <a:lnTo>
                  <a:pt x="57759" y="1021106"/>
                </a:lnTo>
                <a:lnTo>
                  <a:pt x="87612" y="1055858"/>
                </a:lnTo>
                <a:lnTo>
                  <a:pt x="122364" y="1085711"/>
                </a:lnTo>
                <a:lnTo>
                  <a:pt x="161384" y="1110031"/>
                </a:lnTo>
                <a:lnTo>
                  <a:pt x="204037" y="1128186"/>
                </a:lnTo>
                <a:lnTo>
                  <a:pt x="249692" y="1139543"/>
                </a:lnTo>
                <a:lnTo>
                  <a:pt x="297715" y="1143469"/>
                </a:lnTo>
                <a:lnTo>
                  <a:pt x="3917569" y="1143469"/>
                </a:lnTo>
                <a:lnTo>
                  <a:pt x="3965592" y="1139543"/>
                </a:lnTo>
                <a:lnTo>
                  <a:pt x="4011248" y="1128186"/>
                </a:lnTo>
                <a:lnTo>
                  <a:pt x="4053902" y="1110031"/>
                </a:lnTo>
                <a:lnTo>
                  <a:pt x="4092923" y="1085711"/>
                </a:lnTo>
                <a:lnTo>
                  <a:pt x="4127677" y="1055858"/>
                </a:lnTo>
                <a:lnTo>
                  <a:pt x="4157532" y="1021106"/>
                </a:lnTo>
                <a:lnTo>
                  <a:pt x="4181854" y="982087"/>
                </a:lnTo>
                <a:lnTo>
                  <a:pt x="4200010" y="939434"/>
                </a:lnTo>
                <a:lnTo>
                  <a:pt x="4211368" y="893779"/>
                </a:lnTo>
                <a:lnTo>
                  <a:pt x="4215295" y="845756"/>
                </a:lnTo>
                <a:lnTo>
                  <a:pt x="4215295" y="297713"/>
                </a:lnTo>
                <a:lnTo>
                  <a:pt x="4211368" y="249690"/>
                </a:lnTo>
                <a:lnTo>
                  <a:pt x="4200010" y="204035"/>
                </a:lnTo>
                <a:lnTo>
                  <a:pt x="4181854" y="161382"/>
                </a:lnTo>
                <a:lnTo>
                  <a:pt x="4157532" y="122363"/>
                </a:lnTo>
                <a:lnTo>
                  <a:pt x="4127677" y="87610"/>
                </a:lnTo>
                <a:lnTo>
                  <a:pt x="4092923" y="57758"/>
                </a:lnTo>
                <a:lnTo>
                  <a:pt x="4053902" y="33438"/>
                </a:lnTo>
                <a:lnTo>
                  <a:pt x="4011248" y="15283"/>
                </a:lnTo>
                <a:lnTo>
                  <a:pt x="3965592" y="3926"/>
                </a:lnTo>
                <a:lnTo>
                  <a:pt x="3917569" y="0"/>
                </a:lnTo>
                <a:close/>
              </a:path>
            </a:pathLst>
          </a:custGeom>
          <a:solidFill>
            <a:srgbClr val="9F6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9806863" y="5775642"/>
            <a:ext cx="1456690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FFFFFF"/>
                </a:solidFill>
                <a:latin typeface="Arial"/>
                <a:cs typeface="Arial"/>
              </a:rPr>
              <a:t>TOOL</a:t>
            </a:r>
            <a:r>
              <a:rPr dirty="0" sz="1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dirty="0" sz="15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"/>
                <a:cs typeface="Arial"/>
              </a:rPr>
              <a:t>BI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5359" y="0"/>
            <a:ext cx="6035040" cy="8229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93789" y="687705"/>
            <a:ext cx="1392555" cy="363855"/>
          </a:xfrm>
          <a:custGeom>
            <a:avLst/>
            <a:gdLst/>
            <a:ahLst/>
            <a:cxnLst/>
            <a:rect l="l" t="t" r="r" b="b"/>
            <a:pathLst>
              <a:path w="1392555" h="363855">
                <a:moveTo>
                  <a:pt x="0" y="181813"/>
                </a:moveTo>
                <a:lnTo>
                  <a:pt x="6541" y="133711"/>
                </a:lnTo>
                <a:lnTo>
                  <a:pt x="24971" y="90344"/>
                </a:lnTo>
                <a:lnTo>
                  <a:pt x="53502" y="53501"/>
                </a:lnTo>
                <a:lnTo>
                  <a:pt x="90345" y="24971"/>
                </a:lnTo>
                <a:lnTo>
                  <a:pt x="133709" y="6540"/>
                </a:lnTo>
                <a:lnTo>
                  <a:pt x="181808" y="0"/>
                </a:lnTo>
                <a:lnTo>
                  <a:pt x="1210151" y="0"/>
                </a:lnTo>
                <a:lnTo>
                  <a:pt x="1258250" y="6540"/>
                </a:lnTo>
                <a:lnTo>
                  <a:pt x="1301615" y="24971"/>
                </a:lnTo>
                <a:lnTo>
                  <a:pt x="1338456" y="53501"/>
                </a:lnTo>
                <a:lnTo>
                  <a:pt x="1366987" y="90344"/>
                </a:lnTo>
                <a:lnTo>
                  <a:pt x="1385417" y="133711"/>
                </a:lnTo>
                <a:lnTo>
                  <a:pt x="1391958" y="181813"/>
                </a:lnTo>
                <a:lnTo>
                  <a:pt x="1385417" y="229909"/>
                </a:lnTo>
                <a:lnTo>
                  <a:pt x="1366987" y="273272"/>
                </a:lnTo>
                <a:lnTo>
                  <a:pt x="1338456" y="310113"/>
                </a:lnTo>
                <a:lnTo>
                  <a:pt x="1301615" y="338643"/>
                </a:lnTo>
                <a:lnTo>
                  <a:pt x="1258250" y="357072"/>
                </a:lnTo>
                <a:lnTo>
                  <a:pt x="1210151" y="363613"/>
                </a:lnTo>
                <a:lnTo>
                  <a:pt x="181808" y="363613"/>
                </a:lnTo>
                <a:lnTo>
                  <a:pt x="133709" y="357072"/>
                </a:lnTo>
                <a:lnTo>
                  <a:pt x="90345" y="338643"/>
                </a:lnTo>
                <a:lnTo>
                  <a:pt x="53502" y="310113"/>
                </a:lnTo>
                <a:lnTo>
                  <a:pt x="24971" y="273272"/>
                </a:lnTo>
                <a:lnTo>
                  <a:pt x="6541" y="229909"/>
                </a:lnTo>
                <a:lnTo>
                  <a:pt x="0" y="181813"/>
                </a:lnTo>
                <a:close/>
              </a:path>
            </a:pathLst>
          </a:custGeom>
          <a:ln w="7619">
            <a:solidFill>
              <a:srgbClr val="E2BB9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01819" y="795783"/>
            <a:ext cx="11449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E2BB9A"/>
                </a:solidFill>
                <a:latin typeface="Arial"/>
                <a:cs typeface="Arial"/>
              </a:rPr>
              <a:t>INTRODUCTION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089" y="1120566"/>
            <a:ext cx="6315075" cy="1173480"/>
          </a:xfrm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40"/>
              </a:spcBef>
              <a:tabLst>
                <a:tab pos="1761489" algn="l"/>
                <a:tab pos="3666490" algn="l"/>
                <a:tab pos="4110354" algn="l"/>
              </a:tabLst>
            </a:pPr>
            <a:r>
              <a:rPr dirty="0" sz="3700" spc="-10"/>
              <a:t>ABOUT</a:t>
            </a:r>
            <a:r>
              <a:rPr dirty="0" sz="3700"/>
              <a:t>	</a:t>
            </a:r>
            <a:r>
              <a:rPr dirty="0" sz="3700" spc="-10"/>
              <a:t>BLINKIT</a:t>
            </a:r>
            <a:r>
              <a:rPr dirty="0" sz="3700"/>
              <a:t>	</a:t>
            </a:r>
            <a:r>
              <a:rPr dirty="0" sz="3700" spc="-50"/>
              <a:t>&amp;</a:t>
            </a:r>
            <a:r>
              <a:rPr dirty="0" sz="3700"/>
              <a:t>	</a:t>
            </a:r>
            <a:r>
              <a:rPr dirty="0" sz="3700" spc="-10"/>
              <a:t>PROJECT PURPOSE</a:t>
            </a:r>
            <a:endParaRPr sz="3700"/>
          </a:p>
        </p:txBody>
      </p:sp>
      <p:sp>
        <p:nvSpPr>
          <p:cNvPr id="6" name="object 6" descr=""/>
          <p:cNvSpPr txBox="1"/>
          <p:nvPr/>
        </p:nvSpPr>
        <p:spPr>
          <a:xfrm>
            <a:off x="781076" y="2553131"/>
            <a:ext cx="7252334" cy="90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2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Blinkit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(formerly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Grofers)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is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E3C3A"/>
                </a:solidFill>
                <a:latin typeface="Arial"/>
                <a:cs typeface="Arial"/>
              </a:rPr>
              <a:t>India's</a:t>
            </a:r>
            <a:r>
              <a:rPr dirty="0" sz="1450" spc="-4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E3C3A"/>
                </a:solidFill>
                <a:latin typeface="Arial"/>
                <a:cs typeface="Arial"/>
              </a:rPr>
              <a:t>leading</a:t>
            </a:r>
            <a:r>
              <a:rPr dirty="0" sz="1450" spc="-4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E3C3A"/>
                </a:solidFill>
                <a:latin typeface="Arial"/>
                <a:cs typeface="Arial"/>
              </a:rPr>
              <a:t>last-</a:t>
            </a:r>
            <a:r>
              <a:rPr dirty="0" sz="1450" b="1">
                <a:solidFill>
                  <a:srgbClr val="3E3C3A"/>
                </a:solidFill>
                <a:latin typeface="Arial"/>
                <a:cs typeface="Arial"/>
              </a:rPr>
              <a:t>minute</a:t>
            </a:r>
            <a:r>
              <a:rPr dirty="0" sz="1450" spc="-4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E3C3A"/>
                </a:solidFill>
                <a:latin typeface="Arial"/>
                <a:cs typeface="Arial"/>
              </a:rPr>
              <a:t>delivery</a:t>
            </a:r>
            <a:r>
              <a:rPr dirty="0" sz="1450" spc="-4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E3C3A"/>
                </a:solidFill>
                <a:latin typeface="Arial"/>
                <a:cs typeface="Arial"/>
              </a:rPr>
              <a:t>app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,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promising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grocery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essential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deliveries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minutes.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With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rapid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expansion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across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urban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semi-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urban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India,</a:t>
            </a:r>
            <a:r>
              <a:rPr dirty="0" sz="14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understanding</a:t>
            </a:r>
            <a:r>
              <a:rPr dirty="0" sz="14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 performance</a:t>
            </a:r>
            <a:r>
              <a:rPr dirty="0" sz="14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is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mission-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critical.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82359" y="3642359"/>
            <a:ext cx="3711575" cy="2319020"/>
            <a:chOff x="782359" y="3642359"/>
            <a:chExt cx="3711575" cy="2319020"/>
          </a:xfrm>
        </p:grpSpPr>
        <p:sp>
          <p:nvSpPr>
            <p:cNvPr id="8" name="object 8" descr=""/>
            <p:cNvSpPr/>
            <p:nvPr/>
          </p:nvSpPr>
          <p:spPr>
            <a:xfrm>
              <a:off x="793789" y="3653789"/>
              <a:ext cx="3688715" cy="2296160"/>
            </a:xfrm>
            <a:custGeom>
              <a:avLst/>
              <a:gdLst/>
              <a:ahLst/>
              <a:cxnLst/>
              <a:rect l="l" t="t" r="r" b="b"/>
              <a:pathLst>
                <a:path w="3688715" h="2296160">
                  <a:moveTo>
                    <a:pt x="3405860" y="0"/>
                  </a:moveTo>
                  <a:lnTo>
                    <a:pt x="282815" y="0"/>
                  </a:lnTo>
                  <a:lnTo>
                    <a:pt x="237195" y="3729"/>
                  </a:lnTo>
                  <a:lnTo>
                    <a:pt x="193825" y="14519"/>
                  </a:lnTo>
                  <a:lnTo>
                    <a:pt x="153306" y="31766"/>
                  </a:lnTo>
                  <a:lnTo>
                    <a:pt x="116240" y="54870"/>
                  </a:lnTo>
                  <a:lnTo>
                    <a:pt x="83226" y="83229"/>
                  </a:lnTo>
                  <a:lnTo>
                    <a:pt x="54868" y="116243"/>
                  </a:lnTo>
                  <a:lnTo>
                    <a:pt x="31765" y="153309"/>
                  </a:lnTo>
                  <a:lnTo>
                    <a:pt x="14518" y="193828"/>
                  </a:lnTo>
                  <a:lnTo>
                    <a:pt x="3729" y="237197"/>
                  </a:lnTo>
                  <a:lnTo>
                    <a:pt x="0" y="282816"/>
                  </a:lnTo>
                  <a:lnTo>
                    <a:pt x="0" y="2012950"/>
                  </a:lnTo>
                  <a:lnTo>
                    <a:pt x="3729" y="2058568"/>
                  </a:lnTo>
                  <a:lnTo>
                    <a:pt x="14518" y="2101937"/>
                  </a:lnTo>
                  <a:lnTo>
                    <a:pt x="31765" y="2142456"/>
                  </a:lnTo>
                  <a:lnTo>
                    <a:pt x="54868" y="2179523"/>
                  </a:lnTo>
                  <a:lnTo>
                    <a:pt x="83226" y="2212536"/>
                  </a:lnTo>
                  <a:lnTo>
                    <a:pt x="116240" y="2240896"/>
                  </a:lnTo>
                  <a:lnTo>
                    <a:pt x="153306" y="2264000"/>
                  </a:lnTo>
                  <a:lnTo>
                    <a:pt x="193825" y="2281247"/>
                  </a:lnTo>
                  <a:lnTo>
                    <a:pt x="237195" y="2292036"/>
                  </a:lnTo>
                  <a:lnTo>
                    <a:pt x="282815" y="2295766"/>
                  </a:lnTo>
                  <a:lnTo>
                    <a:pt x="3405860" y="2295766"/>
                  </a:lnTo>
                  <a:lnTo>
                    <a:pt x="3451479" y="2292036"/>
                  </a:lnTo>
                  <a:lnTo>
                    <a:pt x="3494848" y="2281247"/>
                  </a:lnTo>
                  <a:lnTo>
                    <a:pt x="3535367" y="2264000"/>
                  </a:lnTo>
                  <a:lnTo>
                    <a:pt x="3572433" y="2240896"/>
                  </a:lnTo>
                  <a:lnTo>
                    <a:pt x="3605447" y="2212536"/>
                  </a:lnTo>
                  <a:lnTo>
                    <a:pt x="3633806" y="2179523"/>
                  </a:lnTo>
                  <a:lnTo>
                    <a:pt x="3656910" y="2142456"/>
                  </a:lnTo>
                  <a:lnTo>
                    <a:pt x="3674157" y="2101937"/>
                  </a:lnTo>
                  <a:lnTo>
                    <a:pt x="3684946" y="2058568"/>
                  </a:lnTo>
                  <a:lnTo>
                    <a:pt x="3688676" y="2012950"/>
                  </a:lnTo>
                  <a:lnTo>
                    <a:pt x="3688676" y="282816"/>
                  </a:lnTo>
                  <a:lnTo>
                    <a:pt x="3684946" y="237197"/>
                  </a:lnTo>
                  <a:lnTo>
                    <a:pt x="3674157" y="193828"/>
                  </a:lnTo>
                  <a:lnTo>
                    <a:pt x="3656910" y="153309"/>
                  </a:lnTo>
                  <a:lnTo>
                    <a:pt x="3633806" y="116243"/>
                  </a:lnTo>
                  <a:lnTo>
                    <a:pt x="3605447" y="83229"/>
                  </a:lnTo>
                  <a:lnTo>
                    <a:pt x="3572433" y="54870"/>
                  </a:lnTo>
                  <a:lnTo>
                    <a:pt x="3535367" y="31766"/>
                  </a:lnTo>
                  <a:lnTo>
                    <a:pt x="3494848" y="14519"/>
                  </a:lnTo>
                  <a:lnTo>
                    <a:pt x="3451479" y="3729"/>
                  </a:lnTo>
                  <a:lnTo>
                    <a:pt x="3405860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93789" y="3653789"/>
              <a:ext cx="3688715" cy="2296160"/>
            </a:xfrm>
            <a:custGeom>
              <a:avLst/>
              <a:gdLst/>
              <a:ahLst/>
              <a:cxnLst/>
              <a:rect l="l" t="t" r="r" b="b"/>
              <a:pathLst>
                <a:path w="3688715" h="2296160">
                  <a:moveTo>
                    <a:pt x="0" y="282816"/>
                  </a:moveTo>
                  <a:lnTo>
                    <a:pt x="3729" y="237197"/>
                  </a:lnTo>
                  <a:lnTo>
                    <a:pt x="14518" y="193828"/>
                  </a:lnTo>
                  <a:lnTo>
                    <a:pt x="31765" y="153309"/>
                  </a:lnTo>
                  <a:lnTo>
                    <a:pt x="54868" y="116243"/>
                  </a:lnTo>
                  <a:lnTo>
                    <a:pt x="83226" y="83229"/>
                  </a:lnTo>
                  <a:lnTo>
                    <a:pt x="116240" y="54870"/>
                  </a:lnTo>
                  <a:lnTo>
                    <a:pt x="153306" y="31766"/>
                  </a:lnTo>
                  <a:lnTo>
                    <a:pt x="193825" y="14519"/>
                  </a:lnTo>
                  <a:lnTo>
                    <a:pt x="237195" y="3729"/>
                  </a:lnTo>
                  <a:lnTo>
                    <a:pt x="282815" y="0"/>
                  </a:lnTo>
                  <a:lnTo>
                    <a:pt x="3405860" y="0"/>
                  </a:lnTo>
                  <a:lnTo>
                    <a:pt x="3451479" y="3729"/>
                  </a:lnTo>
                  <a:lnTo>
                    <a:pt x="3494848" y="14519"/>
                  </a:lnTo>
                  <a:lnTo>
                    <a:pt x="3535367" y="31766"/>
                  </a:lnTo>
                  <a:lnTo>
                    <a:pt x="3572433" y="54870"/>
                  </a:lnTo>
                  <a:lnTo>
                    <a:pt x="3605447" y="83229"/>
                  </a:lnTo>
                  <a:lnTo>
                    <a:pt x="3633806" y="116243"/>
                  </a:lnTo>
                  <a:lnTo>
                    <a:pt x="3656910" y="153309"/>
                  </a:lnTo>
                  <a:lnTo>
                    <a:pt x="3674157" y="193828"/>
                  </a:lnTo>
                  <a:lnTo>
                    <a:pt x="3684946" y="237197"/>
                  </a:lnTo>
                  <a:lnTo>
                    <a:pt x="3688676" y="282816"/>
                  </a:lnTo>
                  <a:lnTo>
                    <a:pt x="3688676" y="2012950"/>
                  </a:lnTo>
                  <a:lnTo>
                    <a:pt x="3684946" y="2058568"/>
                  </a:lnTo>
                  <a:lnTo>
                    <a:pt x="3674157" y="2101937"/>
                  </a:lnTo>
                  <a:lnTo>
                    <a:pt x="3656910" y="2142456"/>
                  </a:lnTo>
                  <a:lnTo>
                    <a:pt x="3633806" y="2179523"/>
                  </a:lnTo>
                  <a:lnTo>
                    <a:pt x="3605447" y="2212536"/>
                  </a:lnTo>
                  <a:lnTo>
                    <a:pt x="3572433" y="2240896"/>
                  </a:lnTo>
                  <a:lnTo>
                    <a:pt x="3535367" y="2264000"/>
                  </a:lnTo>
                  <a:lnTo>
                    <a:pt x="3494848" y="2281247"/>
                  </a:lnTo>
                  <a:lnTo>
                    <a:pt x="3451479" y="2292036"/>
                  </a:lnTo>
                  <a:lnTo>
                    <a:pt x="3405860" y="2295766"/>
                  </a:lnTo>
                  <a:lnTo>
                    <a:pt x="282815" y="2295766"/>
                  </a:lnTo>
                  <a:lnTo>
                    <a:pt x="237195" y="2292036"/>
                  </a:lnTo>
                  <a:lnTo>
                    <a:pt x="193825" y="2281247"/>
                  </a:lnTo>
                  <a:lnTo>
                    <a:pt x="153306" y="2264000"/>
                  </a:lnTo>
                  <a:lnTo>
                    <a:pt x="116240" y="2240896"/>
                  </a:lnTo>
                  <a:lnTo>
                    <a:pt x="83226" y="2212536"/>
                  </a:lnTo>
                  <a:lnTo>
                    <a:pt x="54868" y="2179523"/>
                  </a:lnTo>
                  <a:lnTo>
                    <a:pt x="31765" y="2142456"/>
                  </a:lnTo>
                  <a:lnTo>
                    <a:pt x="14518" y="2101937"/>
                  </a:lnTo>
                  <a:lnTo>
                    <a:pt x="3729" y="2058568"/>
                  </a:lnTo>
                  <a:lnTo>
                    <a:pt x="0" y="2012950"/>
                  </a:lnTo>
                  <a:lnTo>
                    <a:pt x="0" y="282816"/>
                  </a:lnTo>
                  <a:close/>
                </a:path>
              </a:pathLst>
            </a:custGeom>
            <a:ln w="22860">
              <a:solidFill>
                <a:srgbClr val="E2BB9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92426" y="3857625"/>
            <a:ext cx="3155950" cy="158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ABOUT</a:t>
            </a:r>
            <a:r>
              <a:rPr dirty="0" sz="18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BLINKIT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2200"/>
              </a:lnSpc>
              <a:spcBef>
                <a:spcPts val="875"/>
              </a:spcBef>
            </a:pP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Quick-commerce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platform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operating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across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1,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2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&amp;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cities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with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multiple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types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including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grocery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stores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supermarkets.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650104" y="3642359"/>
            <a:ext cx="3711575" cy="2319020"/>
            <a:chOff x="4650104" y="3642359"/>
            <a:chExt cx="3711575" cy="2319020"/>
          </a:xfrm>
        </p:grpSpPr>
        <p:sp>
          <p:nvSpPr>
            <p:cNvPr id="12" name="object 12" descr=""/>
            <p:cNvSpPr/>
            <p:nvPr/>
          </p:nvSpPr>
          <p:spPr>
            <a:xfrm>
              <a:off x="4661534" y="3653789"/>
              <a:ext cx="3688715" cy="2296160"/>
            </a:xfrm>
            <a:custGeom>
              <a:avLst/>
              <a:gdLst/>
              <a:ahLst/>
              <a:cxnLst/>
              <a:rect l="l" t="t" r="r" b="b"/>
              <a:pathLst>
                <a:path w="3688715" h="2296160">
                  <a:moveTo>
                    <a:pt x="3405860" y="0"/>
                  </a:moveTo>
                  <a:lnTo>
                    <a:pt x="282815" y="0"/>
                  </a:lnTo>
                  <a:lnTo>
                    <a:pt x="237195" y="3729"/>
                  </a:lnTo>
                  <a:lnTo>
                    <a:pt x="193825" y="14519"/>
                  </a:lnTo>
                  <a:lnTo>
                    <a:pt x="153306" y="31766"/>
                  </a:lnTo>
                  <a:lnTo>
                    <a:pt x="116240" y="54870"/>
                  </a:lnTo>
                  <a:lnTo>
                    <a:pt x="83226" y="83229"/>
                  </a:lnTo>
                  <a:lnTo>
                    <a:pt x="54868" y="116243"/>
                  </a:lnTo>
                  <a:lnTo>
                    <a:pt x="31765" y="153309"/>
                  </a:lnTo>
                  <a:lnTo>
                    <a:pt x="14518" y="193828"/>
                  </a:lnTo>
                  <a:lnTo>
                    <a:pt x="3729" y="237197"/>
                  </a:lnTo>
                  <a:lnTo>
                    <a:pt x="0" y="282816"/>
                  </a:lnTo>
                  <a:lnTo>
                    <a:pt x="0" y="2012950"/>
                  </a:lnTo>
                  <a:lnTo>
                    <a:pt x="3729" y="2058568"/>
                  </a:lnTo>
                  <a:lnTo>
                    <a:pt x="14518" y="2101937"/>
                  </a:lnTo>
                  <a:lnTo>
                    <a:pt x="31765" y="2142456"/>
                  </a:lnTo>
                  <a:lnTo>
                    <a:pt x="54868" y="2179523"/>
                  </a:lnTo>
                  <a:lnTo>
                    <a:pt x="83226" y="2212536"/>
                  </a:lnTo>
                  <a:lnTo>
                    <a:pt x="116240" y="2240896"/>
                  </a:lnTo>
                  <a:lnTo>
                    <a:pt x="153306" y="2264000"/>
                  </a:lnTo>
                  <a:lnTo>
                    <a:pt x="193825" y="2281247"/>
                  </a:lnTo>
                  <a:lnTo>
                    <a:pt x="237195" y="2292036"/>
                  </a:lnTo>
                  <a:lnTo>
                    <a:pt x="282815" y="2295766"/>
                  </a:lnTo>
                  <a:lnTo>
                    <a:pt x="3405860" y="2295766"/>
                  </a:lnTo>
                  <a:lnTo>
                    <a:pt x="3451479" y="2292036"/>
                  </a:lnTo>
                  <a:lnTo>
                    <a:pt x="3494848" y="2281247"/>
                  </a:lnTo>
                  <a:lnTo>
                    <a:pt x="3535367" y="2264000"/>
                  </a:lnTo>
                  <a:lnTo>
                    <a:pt x="3572433" y="2240896"/>
                  </a:lnTo>
                  <a:lnTo>
                    <a:pt x="3605447" y="2212536"/>
                  </a:lnTo>
                  <a:lnTo>
                    <a:pt x="3633806" y="2179523"/>
                  </a:lnTo>
                  <a:lnTo>
                    <a:pt x="3656910" y="2142456"/>
                  </a:lnTo>
                  <a:lnTo>
                    <a:pt x="3674157" y="2101937"/>
                  </a:lnTo>
                  <a:lnTo>
                    <a:pt x="3684946" y="2058568"/>
                  </a:lnTo>
                  <a:lnTo>
                    <a:pt x="3688676" y="2012950"/>
                  </a:lnTo>
                  <a:lnTo>
                    <a:pt x="3688676" y="282816"/>
                  </a:lnTo>
                  <a:lnTo>
                    <a:pt x="3684946" y="237197"/>
                  </a:lnTo>
                  <a:lnTo>
                    <a:pt x="3674157" y="193828"/>
                  </a:lnTo>
                  <a:lnTo>
                    <a:pt x="3656910" y="153309"/>
                  </a:lnTo>
                  <a:lnTo>
                    <a:pt x="3633806" y="116243"/>
                  </a:lnTo>
                  <a:lnTo>
                    <a:pt x="3605447" y="83229"/>
                  </a:lnTo>
                  <a:lnTo>
                    <a:pt x="3572433" y="54870"/>
                  </a:lnTo>
                  <a:lnTo>
                    <a:pt x="3535367" y="31766"/>
                  </a:lnTo>
                  <a:lnTo>
                    <a:pt x="3494848" y="14519"/>
                  </a:lnTo>
                  <a:lnTo>
                    <a:pt x="3451479" y="3729"/>
                  </a:lnTo>
                  <a:lnTo>
                    <a:pt x="3405860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61534" y="3653789"/>
              <a:ext cx="3688715" cy="2296160"/>
            </a:xfrm>
            <a:custGeom>
              <a:avLst/>
              <a:gdLst/>
              <a:ahLst/>
              <a:cxnLst/>
              <a:rect l="l" t="t" r="r" b="b"/>
              <a:pathLst>
                <a:path w="3688715" h="2296160">
                  <a:moveTo>
                    <a:pt x="0" y="282816"/>
                  </a:moveTo>
                  <a:lnTo>
                    <a:pt x="3729" y="237197"/>
                  </a:lnTo>
                  <a:lnTo>
                    <a:pt x="14518" y="193828"/>
                  </a:lnTo>
                  <a:lnTo>
                    <a:pt x="31765" y="153309"/>
                  </a:lnTo>
                  <a:lnTo>
                    <a:pt x="54868" y="116243"/>
                  </a:lnTo>
                  <a:lnTo>
                    <a:pt x="83226" y="83229"/>
                  </a:lnTo>
                  <a:lnTo>
                    <a:pt x="116240" y="54870"/>
                  </a:lnTo>
                  <a:lnTo>
                    <a:pt x="153306" y="31766"/>
                  </a:lnTo>
                  <a:lnTo>
                    <a:pt x="193825" y="14519"/>
                  </a:lnTo>
                  <a:lnTo>
                    <a:pt x="237195" y="3729"/>
                  </a:lnTo>
                  <a:lnTo>
                    <a:pt x="282815" y="0"/>
                  </a:lnTo>
                  <a:lnTo>
                    <a:pt x="3405860" y="0"/>
                  </a:lnTo>
                  <a:lnTo>
                    <a:pt x="3451479" y="3729"/>
                  </a:lnTo>
                  <a:lnTo>
                    <a:pt x="3494848" y="14519"/>
                  </a:lnTo>
                  <a:lnTo>
                    <a:pt x="3535367" y="31766"/>
                  </a:lnTo>
                  <a:lnTo>
                    <a:pt x="3572433" y="54870"/>
                  </a:lnTo>
                  <a:lnTo>
                    <a:pt x="3605447" y="83229"/>
                  </a:lnTo>
                  <a:lnTo>
                    <a:pt x="3633806" y="116243"/>
                  </a:lnTo>
                  <a:lnTo>
                    <a:pt x="3656910" y="153309"/>
                  </a:lnTo>
                  <a:lnTo>
                    <a:pt x="3674157" y="193828"/>
                  </a:lnTo>
                  <a:lnTo>
                    <a:pt x="3684946" y="237197"/>
                  </a:lnTo>
                  <a:lnTo>
                    <a:pt x="3688676" y="282816"/>
                  </a:lnTo>
                  <a:lnTo>
                    <a:pt x="3688676" y="2012950"/>
                  </a:lnTo>
                  <a:lnTo>
                    <a:pt x="3684946" y="2058568"/>
                  </a:lnTo>
                  <a:lnTo>
                    <a:pt x="3674157" y="2101937"/>
                  </a:lnTo>
                  <a:lnTo>
                    <a:pt x="3656910" y="2142456"/>
                  </a:lnTo>
                  <a:lnTo>
                    <a:pt x="3633806" y="2179523"/>
                  </a:lnTo>
                  <a:lnTo>
                    <a:pt x="3605447" y="2212536"/>
                  </a:lnTo>
                  <a:lnTo>
                    <a:pt x="3572433" y="2240896"/>
                  </a:lnTo>
                  <a:lnTo>
                    <a:pt x="3535367" y="2264000"/>
                  </a:lnTo>
                  <a:lnTo>
                    <a:pt x="3494848" y="2281247"/>
                  </a:lnTo>
                  <a:lnTo>
                    <a:pt x="3451479" y="2292036"/>
                  </a:lnTo>
                  <a:lnTo>
                    <a:pt x="3405860" y="2295766"/>
                  </a:lnTo>
                  <a:lnTo>
                    <a:pt x="282815" y="2295766"/>
                  </a:lnTo>
                  <a:lnTo>
                    <a:pt x="237195" y="2292036"/>
                  </a:lnTo>
                  <a:lnTo>
                    <a:pt x="193825" y="2281247"/>
                  </a:lnTo>
                  <a:lnTo>
                    <a:pt x="153306" y="2264000"/>
                  </a:lnTo>
                  <a:lnTo>
                    <a:pt x="116240" y="2240896"/>
                  </a:lnTo>
                  <a:lnTo>
                    <a:pt x="83226" y="2212536"/>
                  </a:lnTo>
                  <a:lnTo>
                    <a:pt x="54868" y="2179523"/>
                  </a:lnTo>
                  <a:lnTo>
                    <a:pt x="31765" y="2142456"/>
                  </a:lnTo>
                  <a:lnTo>
                    <a:pt x="14518" y="2101937"/>
                  </a:lnTo>
                  <a:lnTo>
                    <a:pt x="3729" y="2058568"/>
                  </a:lnTo>
                  <a:lnTo>
                    <a:pt x="0" y="2012950"/>
                  </a:lnTo>
                  <a:lnTo>
                    <a:pt x="0" y="282816"/>
                  </a:lnTo>
                  <a:close/>
                </a:path>
              </a:pathLst>
            </a:custGeom>
            <a:ln w="22860">
              <a:solidFill>
                <a:srgbClr val="FFF8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860175" y="3857625"/>
            <a:ext cx="3206115" cy="18789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PROJECT</a:t>
            </a:r>
            <a:r>
              <a:rPr dirty="0" sz="18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OBJECTIVE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2200"/>
              </a:lnSpc>
              <a:spcBef>
                <a:spcPts val="875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Build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interactive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Power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BI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dashboard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analyze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trends,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identify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top-performing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item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types,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generate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actionable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business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insights.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82359" y="6117196"/>
            <a:ext cx="7579359" cy="1436370"/>
            <a:chOff x="782359" y="6117196"/>
            <a:chExt cx="7579359" cy="1436370"/>
          </a:xfrm>
        </p:grpSpPr>
        <p:sp>
          <p:nvSpPr>
            <p:cNvPr id="16" name="object 16" descr=""/>
            <p:cNvSpPr/>
            <p:nvPr/>
          </p:nvSpPr>
          <p:spPr>
            <a:xfrm>
              <a:off x="793789" y="6128626"/>
              <a:ext cx="7556500" cy="1413510"/>
            </a:xfrm>
            <a:custGeom>
              <a:avLst/>
              <a:gdLst/>
              <a:ahLst/>
              <a:cxnLst/>
              <a:rect l="l" t="t" r="r" b="b"/>
              <a:pathLst>
                <a:path w="7556500" h="1413509">
                  <a:moveTo>
                    <a:pt x="7273594" y="0"/>
                  </a:moveTo>
                  <a:lnTo>
                    <a:pt x="282827" y="0"/>
                  </a:lnTo>
                  <a:lnTo>
                    <a:pt x="237205" y="3730"/>
                  </a:lnTo>
                  <a:lnTo>
                    <a:pt x="193834" y="14519"/>
                  </a:lnTo>
                  <a:lnTo>
                    <a:pt x="153313" y="31766"/>
                  </a:lnTo>
                  <a:lnTo>
                    <a:pt x="116245" y="54870"/>
                  </a:lnTo>
                  <a:lnTo>
                    <a:pt x="83230" y="83231"/>
                  </a:lnTo>
                  <a:lnTo>
                    <a:pt x="54870" y="116245"/>
                  </a:lnTo>
                  <a:lnTo>
                    <a:pt x="31766" y="153314"/>
                  </a:lnTo>
                  <a:lnTo>
                    <a:pt x="14519" y="193834"/>
                  </a:lnTo>
                  <a:lnTo>
                    <a:pt x="3730" y="237206"/>
                  </a:lnTo>
                  <a:lnTo>
                    <a:pt x="0" y="282828"/>
                  </a:lnTo>
                  <a:lnTo>
                    <a:pt x="0" y="1130325"/>
                  </a:lnTo>
                  <a:lnTo>
                    <a:pt x="3730" y="1175947"/>
                  </a:lnTo>
                  <a:lnTo>
                    <a:pt x="14519" y="1219319"/>
                  </a:lnTo>
                  <a:lnTo>
                    <a:pt x="31766" y="1259840"/>
                  </a:lnTo>
                  <a:lnTo>
                    <a:pt x="54870" y="1296908"/>
                  </a:lnTo>
                  <a:lnTo>
                    <a:pt x="83230" y="1329923"/>
                  </a:lnTo>
                  <a:lnTo>
                    <a:pt x="116245" y="1358283"/>
                  </a:lnTo>
                  <a:lnTo>
                    <a:pt x="153313" y="1381387"/>
                  </a:lnTo>
                  <a:lnTo>
                    <a:pt x="193834" y="1398635"/>
                  </a:lnTo>
                  <a:lnTo>
                    <a:pt x="237205" y="1409424"/>
                  </a:lnTo>
                  <a:lnTo>
                    <a:pt x="282827" y="1413154"/>
                  </a:lnTo>
                  <a:lnTo>
                    <a:pt x="7273594" y="1413154"/>
                  </a:lnTo>
                  <a:lnTo>
                    <a:pt x="7319216" y="1409424"/>
                  </a:lnTo>
                  <a:lnTo>
                    <a:pt x="7362588" y="1398635"/>
                  </a:lnTo>
                  <a:lnTo>
                    <a:pt x="7403109" y="1381387"/>
                  </a:lnTo>
                  <a:lnTo>
                    <a:pt x="7440177" y="1358283"/>
                  </a:lnTo>
                  <a:lnTo>
                    <a:pt x="7473192" y="1329923"/>
                  </a:lnTo>
                  <a:lnTo>
                    <a:pt x="7501552" y="1296908"/>
                  </a:lnTo>
                  <a:lnTo>
                    <a:pt x="7524657" y="1259840"/>
                  </a:lnTo>
                  <a:lnTo>
                    <a:pt x="7541904" y="1219319"/>
                  </a:lnTo>
                  <a:lnTo>
                    <a:pt x="7552693" y="1175947"/>
                  </a:lnTo>
                  <a:lnTo>
                    <a:pt x="7556423" y="1130325"/>
                  </a:lnTo>
                  <a:lnTo>
                    <a:pt x="7556423" y="282828"/>
                  </a:lnTo>
                  <a:lnTo>
                    <a:pt x="7552693" y="237206"/>
                  </a:lnTo>
                  <a:lnTo>
                    <a:pt x="7541904" y="193834"/>
                  </a:lnTo>
                  <a:lnTo>
                    <a:pt x="7524657" y="153314"/>
                  </a:lnTo>
                  <a:lnTo>
                    <a:pt x="7501552" y="116245"/>
                  </a:lnTo>
                  <a:lnTo>
                    <a:pt x="7473192" y="83231"/>
                  </a:lnTo>
                  <a:lnTo>
                    <a:pt x="7440177" y="54870"/>
                  </a:lnTo>
                  <a:lnTo>
                    <a:pt x="7403109" y="31766"/>
                  </a:lnTo>
                  <a:lnTo>
                    <a:pt x="7362588" y="14519"/>
                  </a:lnTo>
                  <a:lnTo>
                    <a:pt x="7319216" y="3730"/>
                  </a:lnTo>
                  <a:lnTo>
                    <a:pt x="7273594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93789" y="6128626"/>
              <a:ext cx="7556500" cy="1413510"/>
            </a:xfrm>
            <a:custGeom>
              <a:avLst/>
              <a:gdLst/>
              <a:ahLst/>
              <a:cxnLst/>
              <a:rect l="l" t="t" r="r" b="b"/>
              <a:pathLst>
                <a:path w="7556500" h="1413509">
                  <a:moveTo>
                    <a:pt x="0" y="282828"/>
                  </a:moveTo>
                  <a:lnTo>
                    <a:pt x="3730" y="237206"/>
                  </a:lnTo>
                  <a:lnTo>
                    <a:pt x="14519" y="193834"/>
                  </a:lnTo>
                  <a:lnTo>
                    <a:pt x="31766" y="153314"/>
                  </a:lnTo>
                  <a:lnTo>
                    <a:pt x="54870" y="116245"/>
                  </a:lnTo>
                  <a:lnTo>
                    <a:pt x="83230" y="83231"/>
                  </a:lnTo>
                  <a:lnTo>
                    <a:pt x="116245" y="54870"/>
                  </a:lnTo>
                  <a:lnTo>
                    <a:pt x="153313" y="31766"/>
                  </a:lnTo>
                  <a:lnTo>
                    <a:pt x="193834" y="14519"/>
                  </a:lnTo>
                  <a:lnTo>
                    <a:pt x="237205" y="3730"/>
                  </a:lnTo>
                  <a:lnTo>
                    <a:pt x="282827" y="0"/>
                  </a:lnTo>
                  <a:lnTo>
                    <a:pt x="7273594" y="0"/>
                  </a:lnTo>
                  <a:lnTo>
                    <a:pt x="7319216" y="3730"/>
                  </a:lnTo>
                  <a:lnTo>
                    <a:pt x="7362588" y="14519"/>
                  </a:lnTo>
                  <a:lnTo>
                    <a:pt x="7403109" y="31766"/>
                  </a:lnTo>
                  <a:lnTo>
                    <a:pt x="7440177" y="54870"/>
                  </a:lnTo>
                  <a:lnTo>
                    <a:pt x="7473192" y="83231"/>
                  </a:lnTo>
                  <a:lnTo>
                    <a:pt x="7501552" y="116245"/>
                  </a:lnTo>
                  <a:lnTo>
                    <a:pt x="7524657" y="153314"/>
                  </a:lnTo>
                  <a:lnTo>
                    <a:pt x="7541904" y="193834"/>
                  </a:lnTo>
                  <a:lnTo>
                    <a:pt x="7552693" y="237206"/>
                  </a:lnTo>
                  <a:lnTo>
                    <a:pt x="7556423" y="282828"/>
                  </a:lnTo>
                  <a:lnTo>
                    <a:pt x="7556423" y="1130325"/>
                  </a:lnTo>
                  <a:lnTo>
                    <a:pt x="7552693" y="1175947"/>
                  </a:lnTo>
                  <a:lnTo>
                    <a:pt x="7541904" y="1219319"/>
                  </a:lnTo>
                  <a:lnTo>
                    <a:pt x="7524657" y="1259840"/>
                  </a:lnTo>
                  <a:lnTo>
                    <a:pt x="7501552" y="1296908"/>
                  </a:lnTo>
                  <a:lnTo>
                    <a:pt x="7473192" y="1329923"/>
                  </a:lnTo>
                  <a:lnTo>
                    <a:pt x="7440177" y="1358283"/>
                  </a:lnTo>
                  <a:lnTo>
                    <a:pt x="7403109" y="1381387"/>
                  </a:lnTo>
                  <a:lnTo>
                    <a:pt x="7362588" y="1398635"/>
                  </a:lnTo>
                  <a:lnTo>
                    <a:pt x="7319216" y="1409424"/>
                  </a:lnTo>
                  <a:lnTo>
                    <a:pt x="7273594" y="1413154"/>
                  </a:lnTo>
                  <a:lnTo>
                    <a:pt x="282827" y="1413154"/>
                  </a:lnTo>
                  <a:lnTo>
                    <a:pt x="237205" y="1409424"/>
                  </a:lnTo>
                  <a:lnTo>
                    <a:pt x="193834" y="1398635"/>
                  </a:lnTo>
                  <a:lnTo>
                    <a:pt x="153313" y="1381387"/>
                  </a:lnTo>
                  <a:lnTo>
                    <a:pt x="116245" y="1358283"/>
                  </a:lnTo>
                  <a:lnTo>
                    <a:pt x="83230" y="1329923"/>
                  </a:lnTo>
                  <a:lnTo>
                    <a:pt x="54870" y="1296908"/>
                  </a:lnTo>
                  <a:lnTo>
                    <a:pt x="31766" y="1259840"/>
                  </a:lnTo>
                  <a:lnTo>
                    <a:pt x="14519" y="1219319"/>
                  </a:lnTo>
                  <a:lnTo>
                    <a:pt x="3730" y="1175947"/>
                  </a:lnTo>
                  <a:lnTo>
                    <a:pt x="0" y="1130325"/>
                  </a:lnTo>
                  <a:lnTo>
                    <a:pt x="0" y="282828"/>
                  </a:lnTo>
                  <a:close/>
                </a:path>
              </a:pathLst>
            </a:custGeom>
            <a:ln w="22860">
              <a:solidFill>
                <a:srgbClr val="9F6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92426" y="6332448"/>
            <a:ext cx="7001509" cy="100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PROBLEM</a:t>
            </a:r>
            <a:r>
              <a:rPr dirty="0" sz="18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STATEMENT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2200"/>
              </a:lnSpc>
              <a:spcBef>
                <a:spcPts val="875"/>
              </a:spcBef>
            </a:pP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Understand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which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outlets,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locations,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product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categories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drive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the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most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revenue—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where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improvement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opportunities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exist.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815300"/>
            <a:ext cx="1160907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5960" algn="l"/>
                <a:tab pos="6037580" algn="l"/>
                <a:tab pos="6505575" algn="l"/>
                <a:tab pos="8926830" algn="l"/>
              </a:tabLst>
            </a:pPr>
            <a:r>
              <a:rPr dirty="0" sz="3900" spc="-10"/>
              <a:t>TOOLS,</a:t>
            </a:r>
            <a:r>
              <a:rPr dirty="0" sz="3900"/>
              <a:t>	</a:t>
            </a:r>
            <a:r>
              <a:rPr dirty="0" sz="3900" spc="-10"/>
              <a:t>TECHNOLOGIES</a:t>
            </a:r>
            <a:r>
              <a:rPr dirty="0" sz="3900"/>
              <a:t>	</a:t>
            </a:r>
            <a:r>
              <a:rPr dirty="0" sz="3900" spc="-50"/>
              <a:t>&amp;</a:t>
            </a:r>
            <a:r>
              <a:rPr dirty="0" sz="3900"/>
              <a:t>	</a:t>
            </a:r>
            <a:r>
              <a:rPr dirty="0" sz="3900" spc="-10"/>
              <a:t>DATASET</a:t>
            </a:r>
            <a:r>
              <a:rPr dirty="0" sz="3900"/>
              <a:t>	</a:t>
            </a:r>
            <a:r>
              <a:rPr dirty="0" sz="3900" spc="-10"/>
              <a:t>OVERVIEW</a:t>
            </a:r>
            <a:endParaRPr sz="3900"/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1922665"/>
            <a:ext cx="159385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TECH</a:t>
            </a:r>
            <a:r>
              <a:rPr dirty="0" sz="1950" spc="-3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9F612C"/>
                </a:solidFill>
                <a:latin typeface="Arial"/>
                <a:cs typeface="Arial"/>
              </a:rPr>
              <a:t>STACK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466378"/>
            <a:ext cx="496133" cy="49613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525231" y="2456065"/>
            <a:ext cx="126428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POWER</a:t>
            </a:r>
            <a:r>
              <a:rPr dirty="0" sz="19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3E3C3A"/>
                </a:solidFill>
                <a:latin typeface="Arial"/>
                <a:cs typeface="Arial"/>
              </a:rPr>
              <a:t>BI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25231" y="2958033"/>
            <a:ext cx="541464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Interactive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dashboards,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slicers,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dynamic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visualizations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for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end-to-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end</a:t>
            </a:r>
            <a:r>
              <a:rPr dirty="0" sz="1550" spc="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reporting.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789" y="4006812"/>
            <a:ext cx="496133" cy="49613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525231" y="3996499"/>
            <a:ext cx="239141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MICROSOFT</a:t>
            </a:r>
            <a:r>
              <a:rPr dirty="0" sz="19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3E3C3A"/>
                </a:solidFill>
                <a:latin typeface="Arial"/>
                <a:cs typeface="Arial"/>
              </a:rPr>
              <a:t>EXCEL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25231" y="4498454"/>
            <a:ext cx="548195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Raw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data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storage,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initial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exploration,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preprocessing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before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importing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into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Power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BI.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789" y="5547245"/>
            <a:ext cx="496133" cy="496138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525231" y="5536933"/>
            <a:ext cx="53467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25">
                <a:solidFill>
                  <a:srgbClr val="3E3C3A"/>
                </a:solidFill>
                <a:latin typeface="Arial"/>
                <a:cs typeface="Arial"/>
              </a:rPr>
              <a:t>DAX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25231" y="6038887"/>
            <a:ext cx="530733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Data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Analysis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Expressions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used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build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calculated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columns,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measures,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KPI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formulas.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421994" y="1734616"/>
            <a:ext cx="6565265" cy="5678170"/>
          </a:xfrm>
          <a:custGeom>
            <a:avLst/>
            <a:gdLst/>
            <a:ahLst/>
            <a:cxnLst/>
            <a:rect l="l" t="t" r="r" b="b"/>
            <a:pathLst>
              <a:path w="6565265" h="5678170">
                <a:moveTo>
                  <a:pt x="6088786" y="0"/>
                </a:moveTo>
                <a:lnTo>
                  <a:pt x="476324" y="0"/>
                </a:lnTo>
                <a:lnTo>
                  <a:pt x="427914" y="2478"/>
                </a:lnTo>
                <a:lnTo>
                  <a:pt x="380835" y="9749"/>
                </a:lnTo>
                <a:lnTo>
                  <a:pt x="335335" y="21565"/>
                </a:lnTo>
                <a:lnTo>
                  <a:pt x="291661" y="37680"/>
                </a:lnTo>
                <a:lnTo>
                  <a:pt x="250061" y="57845"/>
                </a:lnTo>
                <a:lnTo>
                  <a:pt x="210781" y="81814"/>
                </a:lnTo>
                <a:lnTo>
                  <a:pt x="174070" y="109339"/>
                </a:lnTo>
                <a:lnTo>
                  <a:pt x="140173" y="140174"/>
                </a:lnTo>
                <a:lnTo>
                  <a:pt x="109338" y="174071"/>
                </a:lnTo>
                <a:lnTo>
                  <a:pt x="81813" y="210783"/>
                </a:lnTo>
                <a:lnTo>
                  <a:pt x="57844" y="250063"/>
                </a:lnTo>
                <a:lnTo>
                  <a:pt x="37679" y="291663"/>
                </a:lnTo>
                <a:lnTo>
                  <a:pt x="21565" y="335336"/>
                </a:lnTo>
                <a:lnTo>
                  <a:pt x="9749" y="380836"/>
                </a:lnTo>
                <a:lnTo>
                  <a:pt x="2478" y="427915"/>
                </a:lnTo>
                <a:lnTo>
                  <a:pt x="0" y="476326"/>
                </a:lnTo>
                <a:lnTo>
                  <a:pt x="0" y="5201640"/>
                </a:lnTo>
                <a:lnTo>
                  <a:pt x="2478" y="5250053"/>
                </a:lnTo>
                <a:lnTo>
                  <a:pt x="9749" y="5297133"/>
                </a:lnTo>
                <a:lnTo>
                  <a:pt x="21565" y="5342634"/>
                </a:lnTo>
                <a:lnTo>
                  <a:pt x="37679" y="5386308"/>
                </a:lnTo>
                <a:lnTo>
                  <a:pt x="57844" y="5427909"/>
                </a:lnTo>
                <a:lnTo>
                  <a:pt x="81813" y="5467188"/>
                </a:lnTo>
                <a:lnTo>
                  <a:pt x="109338" y="5503900"/>
                </a:lnTo>
                <a:lnTo>
                  <a:pt x="140173" y="5537796"/>
                </a:lnTo>
                <a:lnTo>
                  <a:pt x="174070" y="5568630"/>
                </a:lnTo>
                <a:lnTo>
                  <a:pt x="210781" y="5596155"/>
                </a:lnTo>
                <a:lnTo>
                  <a:pt x="250061" y="5620123"/>
                </a:lnTo>
                <a:lnTo>
                  <a:pt x="291661" y="5640288"/>
                </a:lnTo>
                <a:lnTo>
                  <a:pt x="335335" y="5656401"/>
                </a:lnTo>
                <a:lnTo>
                  <a:pt x="380835" y="5668217"/>
                </a:lnTo>
                <a:lnTo>
                  <a:pt x="427914" y="5675488"/>
                </a:lnTo>
                <a:lnTo>
                  <a:pt x="476324" y="5677966"/>
                </a:lnTo>
                <a:lnTo>
                  <a:pt x="6088786" y="5677966"/>
                </a:lnTo>
                <a:lnTo>
                  <a:pt x="6137196" y="5675488"/>
                </a:lnTo>
                <a:lnTo>
                  <a:pt x="6184275" y="5668217"/>
                </a:lnTo>
                <a:lnTo>
                  <a:pt x="6229774" y="5656401"/>
                </a:lnTo>
                <a:lnTo>
                  <a:pt x="6273447" y="5640288"/>
                </a:lnTo>
                <a:lnTo>
                  <a:pt x="6315046" y="5620123"/>
                </a:lnTo>
                <a:lnTo>
                  <a:pt x="6354325" y="5596155"/>
                </a:lnTo>
                <a:lnTo>
                  <a:pt x="6391035" y="5568630"/>
                </a:lnTo>
                <a:lnTo>
                  <a:pt x="6424931" y="5537796"/>
                </a:lnTo>
                <a:lnTo>
                  <a:pt x="6455765" y="5503900"/>
                </a:lnTo>
                <a:lnTo>
                  <a:pt x="6483289" y="5467188"/>
                </a:lnTo>
                <a:lnTo>
                  <a:pt x="6507257" y="5427909"/>
                </a:lnTo>
                <a:lnTo>
                  <a:pt x="6527421" y="5386308"/>
                </a:lnTo>
                <a:lnTo>
                  <a:pt x="6543535" y="5342634"/>
                </a:lnTo>
                <a:lnTo>
                  <a:pt x="6555350" y="5297133"/>
                </a:lnTo>
                <a:lnTo>
                  <a:pt x="6562621" y="5250053"/>
                </a:lnTo>
                <a:lnTo>
                  <a:pt x="6565099" y="5201640"/>
                </a:lnTo>
                <a:lnTo>
                  <a:pt x="6565099" y="476326"/>
                </a:lnTo>
                <a:lnTo>
                  <a:pt x="6562621" y="427915"/>
                </a:lnTo>
                <a:lnTo>
                  <a:pt x="6555350" y="380836"/>
                </a:lnTo>
                <a:lnTo>
                  <a:pt x="6543535" y="335336"/>
                </a:lnTo>
                <a:lnTo>
                  <a:pt x="6527421" y="291663"/>
                </a:lnTo>
                <a:lnTo>
                  <a:pt x="6507257" y="250063"/>
                </a:lnTo>
                <a:lnTo>
                  <a:pt x="6483289" y="210783"/>
                </a:lnTo>
                <a:lnTo>
                  <a:pt x="6455765" y="174071"/>
                </a:lnTo>
                <a:lnTo>
                  <a:pt x="6424931" y="140174"/>
                </a:lnTo>
                <a:lnTo>
                  <a:pt x="6391035" y="109339"/>
                </a:lnTo>
                <a:lnTo>
                  <a:pt x="6354325" y="81814"/>
                </a:lnTo>
                <a:lnTo>
                  <a:pt x="6315046" y="57845"/>
                </a:lnTo>
                <a:lnTo>
                  <a:pt x="6273447" y="37680"/>
                </a:lnTo>
                <a:lnTo>
                  <a:pt x="6229774" y="21565"/>
                </a:lnTo>
                <a:lnTo>
                  <a:pt x="6184275" y="9749"/>
                </a:lnTo>
                <a:lnTo>
                  <a:pt x="6137196" y="2478"/>
                </a:lnTo>
                <a:lnTo>
                  <a:pt x="6088786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607655" y="1922665"/>
            <a:ext cx="257111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latin typeface="Arial"/>
                <a:cs typeface="Arial"/>
              </a:rPr>
              <a:t>DATASET</a:t>
            </a:r>
            <a:r>
              <a:rPr dirty="0" sz="1950" spc="-35">
                <a:latin typeface="Arial"/>
                <a:cs typeface="Arial"/>
              </a:rPr>
              <a:t> </a:t>
            </a:r>
            <a:r>
              <a:rPr dirty="0" sz="1950" spc="-10">
                <a:latin typeface="Arial"/>
                <a:cs typeface="Arial"/>
              </a:rPr>
              <a:t>OVERVIEW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620355" y="2466378"/>
            <a:ext cx="2985135" cy="1548130"/>
          </a:xfrm>
          <a:custGeom>
            <a:avLst/>
            <a:gdLst/>
            <a:ahLst/>
            <a:cxnLst/>
            <a:rect l="l" t="t" r="r" b="b"/>
            <a:pathLst>
              <a:path w="2985134" h="1548129">
                <a:moveTo>
                  <a:pt x="2687307" y="0"/>
                </a:moveTo>
                <a:lnTo>
                  <a:pt x="297713" y="0"/>
                </a:lnTo>
                <a:lnTo>
                  <a:pt x="249690" y="3926"/>
                </a:lnTo>
                <a:lnTo>
                  <a:pt x="204036" y="15283"/>
                </a:lnTo>
                <a:lnTo>
                  <a:pt x="161382" y="33438"/>
                </a:lnTo>
                <a:lnTo>
                  <a:pt x="122363" y="57758"/>
                </a:lnTo>
                <a:lnTo>
                  <a:pt x="87611" y="87610"/>
                </a:lnTo>
                <a:lnTo>
                  <a:pt x="57758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1250213"/>
                </a:lnTo>
                <a:lnTo>
                  <a:pt x="3926" y="1298236"/>
                </a:lnTo>
                <a:lnTo>
                  <a:pt x="15283" y="1343891"/>
                </a:lnTo>
                <a:lnTo>
                  <a:pt x="33438" y="1386544"/>
                </a:lnTo>
                <a:lnTo>
                  <a:pt x="57758" y="1425563"/>
                </a:lnTo>
                <a:lnTo>
                  <a:pt x="87611" y="1460315"/>
                </a:lnTo>
                <a:lnTo>
                  <a:pt x="122363" y="1490168"/>
                </a:lnTo>
                <a:lnTo>
                  <a:pt x="161382" y="1514488"/>
                </a:lnTo>
                <a:lnTo>
                  <a:pt x="204036" y="1532643"/>
                </a:lnTo>
                <a:lnTo>
                  <a:pt x="249690" y="1544000"/>
                </a:lnTo>
                <a:lnTo>
                  <a:pt x="297713" y="1547926"/>
                </a:lnTo>
                <a:lnTo>
                  <a:pt x="2687307" y="1547926"/>
                </a:lnTo>
                <a:lnTo>
                  <a:pt x="2735330" y="1544000"/>
                </a:lnTo>
                <a:lnTo>
                  <a:pt x="2780985" y="1532643"/>
                </a:lnTo>
                <a:lnTo>
                  <a:pt x="2823638" y="1514488"/>
                </a:lnTo>
                <a:lnTo>
                  <a:pt x="2862657" y="1490168"/>
                </a:lnTo>
                <a:lnTo>
                  <a:pt x="2897409" y="1460315"/>
                </a:lnTo>
                <a:lnTo>
                  <a:pt x="2927262" y="1425563"/>
                </a:lnTo>
                <a:lnTo>
                  <a:pt x="2951582" y="1386544"/>
                </a:lnTo>
                <a:lnTo>
                  <a:pt x="2969737" y="1343891"/>
                </a:lnTo>
                <a:lnTo>
                  <a:pt x="2981094" y="1298236"/>
                </a:lnTo>
                <a:lnTo>
                  <a:pt x="2985020" y="1250213"/>
                </a:lnTo>
                <a:lnTo>
                  <a:pt x="2985020" y="297713"/>
                </a:lnTo>
                <a:lnTo>
                  <a:pt x="2981094" y="249690"/>
                </a:lnTo>
                <a:lnTo>
                  <a:pt x="2969737" y="204035"/>
                </a:lnTo>
                <a:lnTo>
                  <a:pt x="2951582" y="161382"/>
                </a:lnTo>
                <a:lnTo>
                  <a:pt x="2927262" y="122363"/>
                </a:lnTo>
                <a:lnTo>
                  <a:pt x="2897409" y="87610"/>
                </a:lnTo>
                <a:lnTo>
                  <a:pt x="2862657" y="57758"/>
                </a:lnTo>
                <a:lnTo>
                  <a:pt x="2823638" y="33438"/>
                </a:lnTo>
                <a:lnTo>
                  <a:pt x="2780985" y="15283"/>
                </a:lnTo>
                <a:lnTo>
                  <a:pt x="2735330" y="3926"/>
                </a:lnTo>
                <a:lnTo>
                  <a:pt x="2687307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806016" y="2645574"/>
            <a:ext cx="164782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505">
                <a:latin typeface="Segoe UI Symbol"/>
                <a:cs typeface="Segoe UI Symbol"/>
              </a:rPr>
              <a:t>📦</a:t>
            </a:r>
            <a:r>
              <a:rPr dirty="0" sz="1950" spc="-10">
                <a:latin typeface="Segoe UI Symbol"/>
                <a:cs typeface="Segoe UI Symbol"/>
              </a:rPr>
              <a:t> </a:t>
            </a:r>
            <a:r>
              <a:rPr dirty="0" sz="1950">
                <a:latin typeface="Arial"/>
                <a:cs typeface="Arial"/>
              </a:rPr>
              <a:t>Total</a:t>
            </a:r>
            <a:r>
              <a:rPr dirty="0" sz="1950" spc="-10">
                <a:latin typeface="Arial"/>
                <a:cs typeface="Arial"/>
              </a:rPr>
              <a:t> Sales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806016" y="3164014"/>
            <a:ext cx="244284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latin typeface="Arial"/>
                <a:cs typeface="Arial"/>
              </a:rPr>
              <a:t>Aggregated</a:t>
            </a:r>
            <a:r>
              <a:rPr dirty="0" sz="1550" spc="-5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revenue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across </a:t>
            </a:r>
            <a:r>
              <a:rPr dirty="0" sz="1550">
                <a:latin typeface="Arial"/>
                <a:cs typeface="Arial"/>
              </a:rPr>
              <a:t>all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outlets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0803725" y="2466378"/>
            <a:ext cx="2985135" cy="1548130"/>
          </a:xfrm>
          <a:custGeom>
            <a:avLst/>
            <a:gdLst/>
            <a:ahLst/>
            <a:cxnLst/>
            <a:rect l="l" t="t" r="r" b="b"/>
            <a:pathLst>
              <a:path w="2985134" h="1548129">
                <a:moveTo>
                  <a:pt x="2687307" y="0"/>
                </a:moveTo>
                <a:lnTo>
                  <a:pt x="297713" y="0"/>
                </a:lnTo>
                <a:lnTo>
                  <a:pt x="249690" y="3926"/>
                </a:lnTo>
                <a:lnTo>
                  <a:pt x="204036" y="15283"/>
                </a:lnTo>
                <a:lnTo>
                  <a:pt x="161382" y="33438"/>
                </a:lnTo>
                <a:lnTo>
                  <a:pt x="122363" y="57758"/>
                </a:lnTo>
                <a:lnTo>
                  <a:pt x="87611" y="87610"/>
                </a:lnTo>
                <a:lnTo>
                  <a:pt x="57758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1250213"/>
                </a:lnTo>
                <a:lnTo>
                  <a:pt x="3926" y="1298236"/>
                </a:lnTo>
                <a:lnTo>
                  <a:pt x="15283" y="1343891"/>
                </a:lnTo>
                <a:lnTo>
                  <a:pt x="33438" y="1386544"/>
                </a:lnTo>
                <a:lnTo>
                  <a:pt x="57758" y="1425563"/>
                </a:lnTo>
                <a:lnTo>
                  <a:pt x="87611" y="1460315"/>
                </a:lnTo>
                <a:lnTo>
                  <a:pt x="122363" y="1490168"/>
                </a:lnTo>
                <a:lnTo>
                  <a:pt x="161382" y="1514488"/>
                </a:lnTo>
                <a:lnTo>
                  <a:pt x="204036" y="1532643"/>
                </a:lnTo>
                <a:lnTo>
                  <a:pt x="249690" y="1544000"/>
                </a:lnTo>
                <a:lnTo>
                  <a:pt x="297713" y="1547926"/>
                </a:lnTo>
                <a:lnTo>
                  <a:pt x="2687307" y="1547926"/>
                </a:lnTo>
                <a:lnTo>
                  <a:pt x="2735330" y="1544000"/>
                </a:lnTo>
                <a:lnTo>
                  <a:pt x="2780985" y="1532643"/>
                </a:lnTo>
                <a:lnTo>
                  <a:pt x="2823638" y="1514488"/>
                </a:lnTo>
                <a:lnTo>
                  <a:pt x="2862657" y="1490168"/>
                </a:lnTo>
                <a:lnTo>
                  <a:pt x="2897409" y="1460315"/>
                </a:lnTo>
                <a:lnTo>
                  <a:pt x="2927262" y="1425563"/>
                </a:lnTo>
                <a:lnTo>
                  <a:pt x="2951582" y="1386544"/>
                </a:lnTo>
                <a:lnTo>
                  <a:pt x="2969737" y="1343891"/>
                </a:lnTo>
                <a:lnTo>
                  <a:pt x="2981094" y="1298236"/>
                </a:lnTo>
                <a:lnTo>
                  <a:pt x="2985020" y="1250213"/>
                </a:lnTo>
                <a:lnTo>
                  <a:pt x="2985020" y="297713"/>
                </a:lnTo>
                <a:lnTo>
                  <a:pt x="2981094" y="249690"/>
                </a:lnTo>
                <a:lnTo>
                  <a:pt x="2969737" y="204035"/>
                </a:lnTo>
                <a:lnTo>
                  <a:pt x="2951582" y="161382"/>
                </a:lnTo>
                <a:lnTo>
                  <a:pt x="2927262" y="122363"/>
                </a:lnTo>
                <a:lnTo>
                  <a:pt x="2897409" y="87610"/>
                </a:lnTo>
                <a:lnTo>
                  <a:pt x="2862657" y="57758"/>
                </a:lnTo>
                <a:lnTo>
                  <a:pt x="2823638" y="33438"/>
                </a:lnTo>
                <a:lnTo>
                  <a:pt x="2780985" y="15283"/>
                </a:lnTo>
                <a:lnTo>
                  <a:pt x="2735330" y="3926"/>
                </a:lnTo>
                <a:lnTo>
                  <a:pt x="2687307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0989386" y="2633459"/>
            <a:ext cx="160274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390">
                <a:latin typeface="Segoe UI Symbol"/>
                <a:cs typeface="Segoe UI Symbol"/>
              </a:rPr>
              <a:t>🛍</a:t>
            </a:r>
            <a:r>
              <a:rPr dirty="0" sz="1950" spc="-10">
                <a:latin typeface="Segoe UI Symbol"/>
                <a:cs typeface="Segoe UI Symbol"/>
              </a:rPr>
              <a:t> </a:t>
            </a:r>
            <a:r>
              <a:rPr dirty="0" sz="1950">
                <a:latin typeface="Arial"/>
                <a:cs typeface="Arial"/>
              </a:rPr>
              <a:t>Item</a:t>
            </a:r>
            <a:r>
              <a:rPr dirty="0" sz="1950" spc="-15">
                <a:latin typeface="Arial"/>
                <a:cs typeface="Arial"/>
              </a:rPr>
              <a:t> </a:t>
            </a:r>
            <a:r>
              <a:rPr dirty="0" sz="1950" spc="-20">
                <a:latin typeface="Arial"/>
                <a:cs typeface="Arial"/>
              </a:rPr>
              <a:t>Count</a:t>
            </a:r>
            <a:endParaRPr sz="19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989386" y="3245294"/>
            <a:ext cx="251904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latin typeface="Arial"/>
                <a:cs typeface="Arial"/>
              </a:rPr>
              <a:t>8,523</a:t>
            </a:r>
            <a:r>
              <a:rPr dirty="0" sz="1550" spc="-5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unique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product</a:t>
            </a:r>
            <a:r>
              <a:rPr dirty="0" sz="1550" spc="-5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entries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620355" y="4212666"/>
            <a:ext cx="2985135" cy="1548130"/>
          </a:xfrm>
          <a:custGeom>
            <a:avLst/>
            <a:gdLst/>
            <a:ahLst/>
            <a:cxnLst/>
            <a:rect l="l" t="t" r="r" b="b"/>
            <a:pathLst>
              <a:path w="2985134" h="1548129">
                <a:moveTo>
                  <a:pt x="2687307" y="0"/>
                </a:moveTo>
                <a:lnTo>
                  <a:pt x="297713" y="0"/>
                </a:lnTo>
                <a:lnTo>
                  <a:pt x="249690" y="3926"/>
                </a:lnTo>
                <a:lnTo>
                  <a:pt x="204036" y="15283"/>
                </a:lnTo>
                <a:lnTo>
                  <a:pt x="161382" y="33438"/>
                </a:lnTo>
                <a:lnTo>
                  <a:pt x="122363" y="57758"/>
                </a:lnTo>
                <a:lnTo>
                  <a:pt x="87611" y="87610"/>
                </a:lnTo>
                <a:lnTo>
                  <a:pt x="57758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1250213"/>
                </a:lnTo>
                <a:lnTo>
                  <a:pt x="3926" y="1298236"/>
                </a:lnTo>
                <a:lnTo>
                  <a:pt x="15283" y="1343891"/>
                </a:lnTo>
                <a:lnTo>
                  <a:pt x="33438" y="1386544"/>
                </a:lnTo>
                <a:lnTo>
                  <a:pt x="57758" y="1425563"/>
                </a:lnTo>
                <a:lnTo>
                  <a:pt x="87611" y="1460315"/>
                </a:lnTo>
                <a:lnTo>
                  <a:pt x="122363" y="1490168"/>
                </a:lnTo>
                <a:lnTo>
                  <a:pt x="161382" y="1514488"/>
                </a:lnTo>
                <a:lnTo>
                  <a:pt x="204036" y="1532643"/>
                </a:lnTo>
                <a:lnTo>
                  <a:pt x="249690" y="1544000"/>
                </a:lnTo>
                <a:lnTo>
                  <a:pt x="297713" y="1547926"/>
                </a:lnTo>
                <a:lnTo>
                  <a:pt x="2687307" y="1547926"/>
                </a:lnTo>
                <a:lnTo>
                  <a:pt x="2735330" y="1544000"/>
                </a:lnTo>
                <a:lnTo>
                  <a:pt x="2780985" y="1532643"/>
                </a:lnTo>
                <a:lnTo>
                  <a:pt x="2823638" y="1514488"/>
                </a:lnTo>
                <a:lnTo>
                  <a:pt x="2862657" y="1490168"/>
                </a:lnTo>
                <a:lnTo>
                  <a:pt x="2897409" y="1460315"/>
                </a:lnTo>
                <a:lnTo>
                  <a:pt x="2927262" y="1425563"/>
                </a:lnTo>
                <a:lnTo>
                  <a:pt x="2951582" y="1386544"/>
                </a:lnTo>
                <a:lnTo>
                  <a:pt x="2969737" y="1343891"/>
                </a:lnTo>
                <a:lnTo>
                  <a:pt x="2981094" y="1298236"/>
                </a:lnTo>
                <a:lnTo>
                  <a:pt x="2985020" y="1250213"/>
                </a:lnTo>
                <a:lnTo>
                  <a:pt x="2985020" y="297713"/>
                </a:lnTo>
                <a:lnTo>
                  <a:pt x="2981094" y="249690"/>
                </a:lnTo>
                <a:lnTo>
                  <a:pt x="2969737" y="204035"/>
                </a:lnTo>
                <a:lnTo>
                  <a:pt x="2951582" y="161382"/>
                </a:lnTo>
                <a:lnTo>
                  <a:pt x="2927262" y="122363"/>
                </a:lnTo>
                <a:lnTo>
                  <a:pt x="2897409" y="87610"/>
                </a:lnTo>
                <a:lnTo>
                  <a:pt x="2862657" y="57758"/>
                </a:lnTo>
                <a:lnTo>
                  <a:pt x="2823638" y="33438"/>
                </a:lnTo>
                <a:lnTo>
                  <a:pt x="2780985" y="15283"/>
                </a:lnTo>
                <a:lnTo>
                  <a:pt x="2735330" y="3926"/>
                </a:lnTo>
                <a:lnTo>
                  <a:pt x="2687307" y="0"/>
                </a:lnTo>
                <a:close/>
              </a:path>
            </a:pathLst>
          </a:custGeom>
          <a:solidFill>
            <a:srgbClr val="9F6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806016" y="4391863"/>
            <a:ext cx="1812289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505">
                <a:latin typeface="Segoe UI Symbol"/>
                <a:cs typeface="Segoe UI Symbol"/>
              </a:rPr>
              <a:t>🏪</a:t>
            </a:r>
            <a:r>
              <a:rPr dirty="0" sz="1950" spc="-15"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Arial"/>
                <a:cs typeface="Arial"/>
              </a:rPr>
              <a:t>Outlet</a:t>
            </a:r>
            <a:r>
              <a:rPr dirty="0" sz="1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806016" y="4910302"/>
            <a:ext cx="234315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Grocery</a:t>
            </a:r>
            <a:r>
              <a:rPr dirty="0" sz="15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Stores</a:t>
            </a:r>
            <a:r>
              <a:rPr dirty="0" sz="15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Supermarket</a:t>
            </a:r>
            <a:r>
              <a:rPr dirty="0" sz="15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r>
              <a:rPr dirty="0" sz="15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dirty="0" sz="15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2,</a:t>
            </a:r>
            <a:r>
              <a:rPr dirty="0" sz="15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0803725" y="4212666"/>
            <a:ext cx="2985135" cy="1548130"/>
          </a:xfrm>
          <a:custGeom>
            <a:avLst/>
            <a:gdLst/>
            <a:ahLst/>
            <a:cxnLst/>
            <a:rect l="l" t="t" r="r" b="b"/>
            <a:pathLst>
              <a:path w="2985134" h="1548129">
                <a:moveTo>
                  <a:pt x="2687307" y="0"/>
                </a:moveTo>
                <a:lnTo>
                  <a:pt x="297713" y="0"/>
                </a:lnTo>
                <a:lnTo>
                  <a:pt x="249690" y="3926"/>
                </a:lnTo>
                <a:lnTo>
                  <a:pt x="204036" y="15283"/>
                </a:lnTo>
                <a:lnTo>
                  <a:pt x="161382" y="33438"/>
                </a:lnTo>
                <a:lnTo>
                  <a:pt x="122363" y="57758"/>
                </a:lnTo>
                <a:lnTo>
                  <a:pt x="87611" y="87610"/>
                </a:lnTo>
                <a:lnTo>
                  <a:pt x="57758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1250213"/>
                </a:lnTo>
                <a:lnTo>
                  <a:pt x="3926" y="1298236"/>
                </a:lnTo>
                <a:lnTo>
                  <a:pt x="15283" y="1343891"/>
                </a:lnTo>
                <a:lnTo>
                  <a:pt x="33438" y="1386544"/>
                </a:lnTo>
                <a:lnTo>
                  <a:pt x="57758" y="1425563"/>
                </a:lnTo>
                <a:lnTo>
                  <a:pt x="87611" y="1460315"/>
                </a:lnTo>
                <a:lnTo>
                  <a:pt x="122363" y="1490168"/>
                </a:lnTo>
                <a:lnTo>
                  <a:pt x="161382" y="1514488"/>
                </a:lnTo>
                <a:lnTo>
                  <a:pt x="204036" y="1532643"/>
                </a:lnTo>
                <a:lnTo>
                  <a:pt x="249690" y="1544000"/>
                </a:lnTo>
                <a:lnTo>
                  <a:pt x="297713" y="1547926"/>
                </a:lnTo>
                <a:lnTo>
                  <a:pt x="2687307" y="1547926"/>
                </a:lnTo>
                <a:lnTo>
                  <a:pt x="2735330" y="1544000"/>
                </a:lnTo>
                <a:lnTo>
                  <a:pt x="2780985" y="1532643"/>
                </a:lnTo>
                <a:lnTo>
                  <a:pt x="2823638" y="1514488"/>
                </a:lnTo>
                <a:lnTo>
                  <a:pt x="2862657" y="1490168"/>
                </a:lnTo>
                <a:lnTo>
                  <a:pt x="2897409" y="1460315"/>
                </a:lnTo>
                <a:lnTo>
                  <a:pt x="2927262" y="1425563"/>
                </a:lnTo>
                <a:lnTo>
                  <a:pt x="2951582" y="1386544"/>
                </a:lnTo>
                <a:lnTo>
                  <a:pt x="2969737" y="1343891"/>
                </a:lnTo>
                <a:lnTo>
                  <a:pt x="2981094" y="1298236"/>
                </a:lnTo>
                <a:lnTo>
                  <a:pt x="2985020" y="1250213"/>
                </a:lnTo>
                <a:lnTo>
                  <a:pt x="2985020" y="297713"/>
                </a:lnTo>
                <a:lnTo>
                  <a:pt x="2981094" y="249690"/>
                </a:lnTo>
                <a:lnTo>
                  <a:pt x="2969737" y="204035"/>
                </a:lnTo>
                <a:lnTo>
                  <a:pt x="2951582" y="161382"/>
                </a:lnTo>
                <a:lnTo>
                  <a:pt x="2927262" y="122363"/>
                </a:lnTo>
                <a:lnTo>
                  <a:pt x="2897409" y="87610"/>
                </a:lnTo>
                <a:lnTo>
                  <a:pt x="2862657" y="57758"/>
                </a:lnTo>
                <a:lnTo>
                  <a:pt x="2823638" y="33438"/>
                </a:lnTo>
                <a:lnTo>
                  <a:pt x="2780985" y="15283"/>
                </a:lnTo>
                <a:lnTo>
                  <a:pt x="2735330" y="3926"/>
                </a:lnTo>
                <a:lnTo>
                  <a:pt x="2687307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0989386" y="4391863"/>
            <a:ext cx="215646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505">
                <a:latin typeface="Segoe UI Symbol"/>
                <a:cs typeface="Segoe UI Symbol"/>
              </a:rPr>
              <a:t>📂</a:t>
            </a:r>
            <a:r>
              <a:rPr dirty="0" sz="1950" spc="-10">
                <a:latin typeface="Segoe UI Symbol"/>
                <a:cs typeface="Segoe UI Symbol"/>
              </a:rPr>
              <a:t> </a:t>
            </a:r>
            <a:r>
              <a:rPr dirty="0" sz="1950">
                <a:latin typeface="Arial"/>
                <a:cs typeface="Arial"/>
              </a:rPr>
              <a:t>Item</a:t>
            </a:r>
            <a:r>
              <a:rPr dirty="0" sz="1950" spc="-15">
                <a:latin typeface="Arial"/>
                <a:cs typeface="Arial"/>
              </a:rPr>
              <a:t> </a:t>
            </a:r>
            <a:r>
              <a:rPr dirty="0" sz="1950" spc="-10">
                <a:latin typeface="Arial"/>
                <a:cs typeface="Arial"/>
              </a:rPr>
              <a:t>Categories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989386" y="4910302"/>
            <a:ext cx="212534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latin typeface="Arial"/>
                <a:cs typeface="Arial"/>
              </a:rPr>
              <a:t>Fruits,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Snacks,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Dairy, </a:t>
            </a:r>
            <a:r>
              <a:rPr dirty="0" sz="1550">
                <a:latin typeface="Arial"/>
                <a:cs typeface="Arial"/>
              </a:rPr>
              <a:t>Frozen,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Canned</a:t>
            </a:r>
            <a:r>
              <a:rPr dirty="0" sz="1550" spc="-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&amp;</a:t>
            </a:r>
            <a:r>
              <a:rPr dirty="0" sz="1550" spc="-4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more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7620355" y="5958954"/>
            <a:ext cx="6168390" cy="1230630"/>
          </a:xfrm>
          <a:custGeom>
            <a:avLst/>
            <a:gdLst/>
            <a:ahLst/>
            <a:cxnLst/>
            <a:rect l="l" t="t" r="r" b="b"/>
            <a:pathLst>
              <a:path w="6168390" h="1230629">
                <a:moveTo>
                  <a:pt x="5870689" y="0"/>
                </a:moveTo>
                <a:lnTo>
                  <a:pt x="297705" y="0"/>
                </a:lnTo>
                <a:lnTo>
                  <a:pt x="249684" y="3926"/>
                </a:lnTo>
                <a:lnTo>
                  <a:pt x="204030" y="15283"/>
                </a:lnTo>
                <a:lnTo>
                  <a:pt x="161378" y="33437"/>
                </a:lnTo>
                <a:lnTo>
                  <a:pt x="122360" y="57757"/>
                </a:lnTo>
                <a:lnTo>
                  <a:pt x="87609" y="87609"/>
                </a:lnTo>
                <a:lnTo>
                  <a:pt x="57757" y="122360"/>
                </a:lnTo>
                <a:lnTo>
                  <a:pt x="33437" y="161377"/>
                </a:lnTo>
                <a:lnTo>
                  <a:pt x="15282" y="204029"/>
                </a:lnTo>
                <a:lnTo>
                  <a:pt x="3926" y="249680"/>
                </a:lnTo>
                <a:lnTo>
                  <a:pt x="0" y="297700"/>
                </a:lnTo>
                <a:lnTo>
                  <a:pt x="0" y="932688"/>
                </a:lnTo>
                <a:lnTo>
                  <a:pt x="3926" y="980707"/>
                </a:lnTo>
                <a:lnTo>
                  <a:pt x="15282" y="1026359"/>
                </a:lnTo>
                <a:lnTo>
                  <a:pt x="33437" y="1069010"/>
                </a:lnTo>
                <a:lnTo>
                  <a:pt x="57757" y="1108028"/>
                </a:lnTo>
                <a:lnTo>
                  <a:pt x="87609" y="1142779"/>
                </a:lnTo>
                <a:lnTo>
                  <a:pt x="122360" y="1172631"/>
                </a:lnTo>
                <a:lnTo>
                  <a:pt x="161378" y="1196950"/>
                </a:lnTo>
                <a:lnTo>
                  <a:pt x="204030" y="1215105"/>
                </a:lnTo>
                <a:lnTo>
                  <a:pt x="249684" y="1226462"/>
                </a:lnTo>
                <a:lnTo>
                  <a:pt x="297705" y="1230388"/>
                </a:lnTo>
                <a:lnTo>
                  <a:pt x="5870689" y="1230388"/>
                </a:lnTo>
                <a:lnTo>
                  <a:pt x="5918709" y="1226462"/>
                </a:lnTo>
                <a:lnTo>
                  <a:pt x="5964360" y="1215105"/>
                </a:lnTo>
                <a:lnTo>
                  <a:pt x="6007012" y="1196950"/>
                </a:lnTo>
                <a:lnTo>
                  <a:pt x="6046029" y="1172631"/>
                </a:lnTo>
                <a:lnTo>
                  <a:pt x="6080780" y="1142779"/>
                </a:lnTo>
                <a:lnTo>
                  <a:pt x="6110632" y="1108028"/>
                </a:lnTo>
                <a:lnTo>
                  <a:pt x="6134952" y="1069010"/>
                </a:lnTo>
                <a:lnTo>
                  <a:pt x="6153106" y="1026359"/>
                </a:lnTo>
                <a:lnTo>
                  <a:pt x="6164463" y="980707"/>
                </a:lnTo>
                <a:lnTo>
                  <a:pt x="6168390" y="932688"/>
                </a:lnTo>
                <a:lnTo>
                  <a:pt x="6168390" y="297700"/>
                </a:lnTo>
                <a:lnTo>
                  <a:pt x="6164463" y="249680"/>
                </a:lnTo>
                <a:lnTo>
                  <a:pt x="6153106" y="204029"/>
                </a:lnTo>
                <a:lnTo>
                  <a:pt x="6134952" y="161377"/>
                </a:lnTo>
                <a:lnTo>
                  <a:pt x="6110632" y="122360"/>
                </a:lnTo>
                <a:lnTo>
                  <a:pt x="6080780" y="87609"/>
                </a:lnTo>
                <a:lnTo>
                  <a:pt x="6046029" y="57757"/>
                </a:lnTo>
                <a:lnTo>
                  <a:pt x="6007012" y="33437"/>
                </a:lnTo>
                <a:lnTo>
                  <a:pt x="5964360" y="15283"/>
                </a:lnTo>
                <a:lnTo>
                  <a:pt x="5918709" y="3926"/>
                </a:lnTo>
                <a:lnTo>
                  <a:pt x="5870689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7806016" y="6126035"/>
            <a:ext cx="110236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355">
                <a:latin typeface="Segoe UI Symbol"/>
                <a:cs typeface="Segoe UI Symbol"/>
              </a:rPr>
              <a:t>⭐</a:t>
            </a:r>
            <a:r>
              <a:rPr dirty="0" sz="1950" spc="5">
                <a:latin typeface="Segoe UI Symbol"/>
                <a:cs typeface="Segoe UI Symbol"/>
              </a:rPr>
              <a:t> </a:t>
            </a:r>
            <a:r>
              <a:rPr dirty="0" sz="1950" spc="-10">
                <a:latin typeface="Arial"/>
                <a:cs typeface="Arial"/>
              </a:rPr>
              <a:t>Ratings</a:t>
            </a:r>
            <a:endParaRPr sz="19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806016" y="6737870"/>
            <a:ext cx="321818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latin typeface="Arial"/>
                <a:cs typeface="Arial"/>
              </a:rPr>
              <a:t>Customer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satisfaction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score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per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item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605026"/>
            <a:ext cx="111969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5730" algn="l"/>
                <a:tab pos="4057015" algn="l"/>
                <a:tab pos="8597900" algn="l"/>
                <a:tab pos="9041765" algn="l"/>
                <a:tab pos="10112375" algn="l"/>
              </a:tabLst>
            </a:pPr>
            <a:r>
              <a:rPr dirty="0" sz="3700" spc="-20"/>
              <a:t>DATA</a:t>
            </a:r>
            <a:r>
              <a:rPr dirty="0" sz="3700"/>
              <a:t>	</a:t>
            </a:r>
            <a:r>
              <a:rPr dirty="0" sz="3700" spc="-10"/>
              <a:t>CLEANING,</a:t>
            </a:r>
            <a:r>
              <a:rPr dirty="0" sz="3700"/>
              <a:t>	</a:t>
            </a:r>
            <a:r>
              <a:rPr dirty="0" sz="3700" spc="-10"/>
              <a:t>TRANSFORMATION</a:t>
            </a:r>
            <a:r>
              <a:rPr dirty="0" sz="3700"/>
              <a:t>	</a:t>
            </a:r>
            <a:r>
              <a:rPr dirty="0" sz="3700" spc="-50"/>
              <a:t>&amp;</a:t>
            </a:r>
            <a:r>
              <a:rPr dirty="0" sz="3700"/>
              <a:t>	</a:t>
            </a:r>
            <a:r>
              <a:rPr dirty="0" sz="3700" spc="-25"/>
              <a:t>KEY</a:t>
            </a:r>
            <a:r>
              <a:rPr dirty="0" sz="3700"/>
              <a:t>	</a:t>
            </a:r>
            <a:r>
              <a:rPr dirty="0" sz="3700" spc="-20"/>
              <a:t>KPIS</a:t>
            </a:r>
            <a:endParaRPr sz="3700"/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1636623"/>
            <a:ext cx="323659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9F612C"/>
                </a:solidFill>
                <a:latin typeface="Arial"/>
                <a:cs typeface="Arial"/>
              </a:rPr>
              <a:t>DATA</a:t>
            </a:r>
            <a:r>
              <a:rPr dirty="0" sz="1850" spc="-80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9F612C"/>
                </a:solidFill>
                <a:latin typeface="Arial"/>
                <a:cs typeface="Arial"/>
              </a:rPr>
              <a:t>PREPARATION</a:t>
            </a:r>
            <a:r>
              <a:rPr dirty="0" sz="1850" spc="-80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9F612C"/>
                </a:solidFill>
                <a:latin typeface="Arial"/>
                <a:cs typeface="Arial"/>
              </a:rPr>
              <a:t>STEPS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163838"/>
            <a:ext cx="188475" cy="18848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793789" y="2437688"/>
            <a:ext cx="5616575" cy="22860"/>
          </a:xfrm>
          <a:custGeom>
            <a:avLst/>
            <a:gdLst/>
            <a:ahLst/>
            <a:cxnLst/>
            <a:rect l="l" t="t" r="r" b="b"/>
            <a:pathLst>
              <a:path w="5616575" h="22860">
                <a:moveTo>
                  <a:pt x="5616181" y="0"/>
                </a:moveTo>
                <a:lnTo>
                  <a:pt x="0" y="0"/>
                </a:lnTo>
                <a:lnTo>
                  <a:pt x="0" y="22859"/>
                </a:lnTo>
                <a:lnTo>
                  <a:pt x="5616181" y="22859"/>
                </a:lnTo>
                <a:lnTo>
                  <a:pt x="5616181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81089" y="2570073"/>
            <a:ext cx="287083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REMOVED</a:t>
            </a:r>
            <a:r>
              <a:rPr dirty="0" sz="18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NULL</a:t>
            </a:r>
            <a:r>
              <a:rPr dirty="0" sz="18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VALUES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81089" y="3034741"/>
            <a:ext cx="5295265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2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Identified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eliminated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missing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or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blank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records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ensure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data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integrity</a:t>
            </a:r>
            <a:r>
              <a:rPr dirty="0" sz="14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across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all</a:t>
            </a:r>
            <a:r>
              <a:rPr dirty="0" sz="14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columns.</a:t>
            </a:r>
            <a:endParaRPr sz="145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789" y="3983710"/>
            <a:ext cx="188475" cy="188480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793789" y="4257560"/>
            <a:ext cx="5616575" cy="22860"/>
          </a:xfrm>
          <a:custGeom>
            <a:avLst/>
            <a:gdLst/>
            <a:ahLst/>
            <a:cxnLst/>
            <a:rect l="l" t="t" r="r" b="b"/>
            <a:pathLst>
              <a:path w="5616575" h="22860">
                <a:moveTo>
                  <a:pt x="5616181" y="0"/>
                </a:moveTo>
                <a:lnTo>
                  <a:pt x="0" y="0"/>
                </a:lnTo>
                <a:lnTo>
                  <a:pt x="0" y="22859"/>
                </a:lnTo>
                <a:lnTo>
                  <a:pt x="5616181" y="22859"/>
                </a:lnTo>
                <a:lnTo>
                  <a:pt x="5616181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81089" y="4389945"/>
            <a:ext cx="309118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STANDARDIZED</a:t>
            </a:r>
            <a:r>
              <a:rPr dirty="0" sz="18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COLUMNS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81089" y="4854600"/>
            <a:ext cx="5415915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2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Unified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naming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conventions,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corrected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data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types,</a:t>
            </a:r>
            <a:r>
              <a:rPr dirty="0" sz="14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normalized categorical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fields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like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size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item</a:t>
            </a:r>
            <a:r>
              <a:rPr dirty="0" sz="14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fat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content.</a:t>
            </a:r>
            <a:endParaRPr sz="145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789" y="5803582"/>
            <a:ext cx="188475" cy="188480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793789" y="6077419"/>
            <a:ext cx="5616575" cy="22860"/>
          </a:xfrm>
          <a:custGeom>
            <a:avLst/>
            <a:gdLst/>
            <a:ahLst/>
            <a:cxnLst/>
            <a:rect l="l" t="t" r="r" b="b"/>
            <a:pathLst>
              <a:path w="5616575" h="22860">
                <a:moveTo>
                  <a:pt x="5616181" y="0"/>
                </a:moveTo>
                <a:lnTo>
                  <a:pt x="0" y="0"/>
                </a:lnTo>
                <a:lnTo>
                  <a:pt x="0" y="22859"/>
                </a:lnTo>
                <a:lnTo>
                  <a:pt x="5616181" y="22859"/>
                </a:lnTo>
                <a:lnTo>
                  <a:pt x="5616181" y="0"/>
                </a:lnTo>
                <a:close/>
              </a:path>
            </a:pathLst>
          </a:custGeom>
          <a:solidFill>
            <a:srgbClr val="9F6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81089" y="6209817"/>
            <a:ext cx="442214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CALCULATED</a:t>
            </a:r>
            <a:r>
              <a:rPr dirty="0" sz="18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COLUMNS</a:t>
            </a:r>
            <a:r>
              <a:rPr dirty="0" sz="18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&amp;</a:t>
            </a:r>
            <a:r>
              <a:rPr dirty="0" sz="18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MEASURES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1089" y="6674472"/>
            <a:ext cx="5509260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2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Used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DAX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create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measures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for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Sales,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Average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Sales,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3E3C3A"/>
                </a:solidFill>
                <a:latin typeface="Arial"/>
                <a:cs typeface="Arial"/>
              </a:rPr>
              <a:t>Item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Count,</a:t>
            </a:r>
            <a:r>
              <a:rPr dirty="0" sz="1450" spc="-7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Average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Rating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aggregations.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64946" y="1636623"/>
            <a:ext cx="271462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9F612C"/>
                </a:solidFill>
                <a:latin typeface="Arial"/>
                <a:cs typeface="Arial"/>
              </a:rPr>
              <a:t>KEY</a:t>
            </a:r>
            <a:r>
              <a:rPr dirty="0" sz="1850" spc="-2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9F612C"/>
                </a:solidFill>
                <a:latin typeface="Arial"/>
                <a:cs typeface="Arial"/>
              </a:rPr>
              <a:t>KPIS</a:t>
            </a:r>
            <a:r>
              <a:rPr dirty="0" sz="1850" spc="-2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9F612C"/>
                </a:solidFill>
                <a:latin typeface="Arial"/>
                <a:cs typeface="Arial"/>
              </a:rPr>
              <a:t>AT</a:t>
            </a:r>
            <a:r>
              <a:rPr dirty="0" sz="1850" spc="-2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9F612C"/>
                </a:solidFill>
                <a:latin typeface="Arial"/>
                <a:cs typeface="Arial"/>
              </a:rPr>
              <a:t>A</a:t>
            </a:r>
            <a:r>
              <a:rPr dirty="0" sz="1850" spc="-2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9F612C"/>
                </a:solidFill>
                <a:latin typeface="Arial"/>
                <a:cs typeface="Arial"/>
              </a:rPr>
              <a:t>GLANCE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23516" y="2108237"/>
            <a:ext cx="2078989" cy="1276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850" spc="-10">
                <a:solidFill>
                  <a:srgbClr val="3E3C3A"/>
                </a:solidFill>
                <a:latin typeface="Arial"/>
                <a:cs typeface="Arial"/>
              </a:rPr>
              <a:t>$1.20M</a:t>
            </a:r>
            <a:endParaRPr sz="485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181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8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046059" y="3542182"/>
            <a:ext cx="3034030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5950" marR="5080" indent="-603885">
              <a:lnSpc>
                <a:spcPct val="1322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Overall</a:t>
            </a:r>
            <a:r>
              <a:rPr dirty="0" sz="14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revenue</a:t>
            </a:r>
            <a:r>
              <a:rPr dirty="0" sz="14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generated</a:t>
            </a:r>
            <a:r>
              <a:rPr dirty="0" sz="14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across</a:t>
            </a:r>
            <a:r>
              <a:rPr dirty="0" sz="14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all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4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categories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453738" y="2108237"/>
            <a:ext cx="1409700" cy="1276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 sz="4850" spc="-20">
                <a:solidFill>
                  <a:srgbClr val="3E3C3A"/>
                </a:solidFill>
                <a:latin typeface="Arial"/>
                <a:cs typeface="Arial"/>
              </a:rPr>
              <a:t>$141</a:t>
            </a:r>
            <a:endParaRPr sz="4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AVG.</a:t>
            </a:r>
            <a:r>
              <a:rPr dirty="0" sz="18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810026" y="3613302"/>
            <a:ext cx="269621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Average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revenue</a:t>
            </a:r>
            <a:r>
              <a:rPr dirty="0" sz="14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per</a:t>
            </a:r>
            <a:r>
              <a:rPr dirty="0" sz="14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transaction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865626" y="4473295"/>
            <a:ext cx="1395730" cy="1276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850" spc="-20">
                <a:solidFill>
                  <a:srgbClr val="3E3C3A"/>
                </a:solidFill>
                <a:latin typeface="Arial"/>
                <a:cs typeface="Arial"/>
              </a:rPr>
              <a:t>8523</a:t>
            </a:r>
            <a:endParaRPr sz="4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10"/>
              </a:spcBef>
            </a:pP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ITEMS</a:t>
            </a:r>
            <a:endParaRPr sz="18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107472" y="5907239"/>
            <a:ext cx="2911475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3795" marR="5080" indent="-1141730">
              <a:lnSpc>
                <a:spcPct val="1322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number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of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unique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items</a:t>
            </a:r>
            <a:r>
              <a:rPr dirty="0" sz="14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4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the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dataset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388690" y="4473295"/>
            <a:ext cx="1539240" cy="1276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850" spc="-25">
                <a:solidFill>
                  <a:srgbClr val="3E3C3A"/>
                </a:solidFill>
                <a:latin typeface="Arial"/>
                <a:cs typeface="Arial"/>
              </a:rPr>
              <a:t>3.9</a:t>
            </a:r>
            <a:endParaRPr sz="4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10"/>
              </a:spcBef>
            </a:pPr>
            <a:r>
              <a:rPr dirty="0" sz="1850">
                <a:solidFill>
                  <a:srgbClr val="3E3C3A"/>
                </a:solidFill>
                <a:latin typeface="Arial"/>
                <a:cs typeface="Arial"/>
              </a:rPr>
              <a:t>AVG.</a:t>
            </a:r>
            <a:r>
              <a:rPr dirty="0" sz="18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3E3C3A"/>
                </a:solidFill>
                <a:latin typeface="Arial"/>
                <a:cs typeface="Arial"/>
              </a:rPr>
              <a:t>RATING</a:t>
            </a:r>
            <a:endParaRPr sz="18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477696" y="5907239"/>
            <a:ext cx="3360420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9675" marR="5080" indent="-1197610">
              <a:lnSpc>
                <a:spcPct val="132200"/>
              </a:lnSpc>
              <a:spcBef>
                <a:spcPts val="100"/>
              </a:spcBef>
            </a:pP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Mean</a:t>
            </a:r>
            <a:r>
              <a:rPr dirty="0" sz="1450" spc="-7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customer</a:t>
            </a:r>
            <a:r>
              <a:rPr dirty="0" sz="1450" spc="-7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satisfaction</a:t>
            </a:r>
            <a:r>
              <a:rPr dirty="0" sz="1450" spc="-7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score</a:t>
            </a:r>
            <a:r>
              <a:rPr dirty="0" sz="1450" spc="-7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across </a:t>
            </a:r>
            <a:r>
              <a:rPr dirty="0" sz="1450">
                <a:solidFill>
                  <a:srgbClr val="3E3C3A"/>
                </a:solidFill>
                <a:latin typeface="Arial"/>
                <a:cs typeface="Arial"/>
              </a:rPr>
              <a:t>all</a:t>
            </a:r>
            <a:r>
              <a:rPr dirty="0" sz="14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3E3C3A"/>
                </a:solidFill>
                <a:latin typeface="Arial"/>
                <a:cs typeface="Arial"/>
              </a:rPr>
              <a:t>products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278041" y="547330"/>
            <a:ext cx="1247140" cy="299720"/>
            <a:chOff x="6278041" y="547330"/>
            <a:chExt cx="1247140" cy="299720"/>
          </a:xfrm>
        </p:grpSpPr>
        <p:sp>
          <p:nvSpPr>
            <p:cNvPr id="5" name="object 5" descr=""/>
            <p:cNvSpPr/>
            <p:nvPr/>
          </p:nvSpPr>
          <p:spPr>
            <a:xfrm>
              <a:off x="6278041" y="547330"/>
              <a:ext cx="1247140" cy="299720"/>
            </a:xfrm>
            <a:custGeom>
              <a:avLst/>
              <a:gdLst/>
              <a:ahLst/>
              <a:cxnLst/>
              <a:rect l="l" t="t" r="r" b="b"/>
              <a:pathLst>
                <a:path w="1247140" h="299719">
                  <a:moveTo>
                    <a:pt x="1097042" y="0"/>
                  </a:moveTo>
                  <a:lnTo>
                    <a:pt x="149779" y="0"/>
                  </a:lnTo>
                  <a:lnTo>
                    <a:pt x="102650" y="7689"/>
                  </a:lnTo>
                  <a:lnTo>
                    <a:pt x="61561" y="29059"/>
                  </a:lnTo>
                  <a:lnTo>
                    <a:pt x="29058" y="61562"/>
                  </a:lnTo>
                  <a:lnTo>
                    <a:pt x="7689" y="102653"/>
                  </a:lnTo>
                  <a:lnTo>
                    <a:pt x="0" y="149783"/>
                  </a:lnTo>
                  <a:lnTo>
                    <a:pt x="7689" y="196912"/>
                  </a:lnTo>
                  <a:lnTo>
                    <a:pt x="29058" y="238000"/>
                  </a:lnTo>
                  <a:lnTo>
                    <a:pt x="61561" y="270500"/>
                  </a:lnTo>
                  <a:lnTo>
                    <a:pt x="102650" y="291866"/>
                  </a:lnTo>
                  <a:lnTo>
                    <a:pt x="149779" y="299554"/>
                  </a:lnTo>
                  <a:lnTo>
                    <a:pt x="1097042" y="299554"/>
                  </a:lnTo>
                  <a:lnTo>
                    <a:pt x="1144171" y="291866"/>
                  </a:lnTo>
                  <a:lnTo>
                    <a:pt x="1185260" y="270500"/>
                  </a:lnTo>
                  <a:lnTo>
                    <a:pt x="1217763" y="238000"/>
                  </a:lnTo>
                  <a:lnTo>
                    <a:pt x="1239133" y="196912"/>
                  </a:lnTo>
                  <a:lnTo>
                    <a:pt x="1246822" y="149783"/>
                  </a:lnTo>
                  <a:lnTo>
                    <a:pt x="1239133" y="102653"/>
                  </a:lnTo>
                  <a:lnTo>
                    <a:pt x="1217763" y="61562"/>
                  </a:lnTo>
                  <a:lnTo>
                    <a:pt x="1185260" y="29059"/>
                  </a:lnTo>
                  <a:lnTo>
                    <a:pt x="1144171" y="7689"/>
                  </a:lnTo>
                  <a:lnTo>
                    <a:pt x="1097042" y="0"/>
                  </a:lnTo>
                  <a:close/>
                </a:path>
              </a:pathLst>
            </a:custGeom>
            <a:solidFill>
              <a:srgbClr val="F4E4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8892" y="629841"/>
              <a:ext cx="134541" cy="134543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6568008" y="619004"/>
            <a:ext cx="8699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3E3C3A"/>
                </a:solidFill>
                <a:latin typeface="Arial"/>
                <a:cs typeface="Arial"/>
              </a:rPr>
              <a:t>DASHBOARD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0"/>
              </a:spcBef>
            </a:pPr>
            <a:r>
              <a:rPr dirty="0"/>
              <a:t>DASHBOARD</a:t>
            </a:r>
            <a:r>
              <a:rPr dirty="0" spc="-105"/>
              <a:t> </a:t>
            </a:r>
            <a:r>
              <a:rPr dirty="0"/>
              <a:t>OVERVIEW</a:t>
            </a:r>
            <a:r>
              <a:rPr dirty="0" spc="-105"/>
              <a:t> </a:t>
            </a:r>
            <a:r>
              <a:rPr dirty="0" spc="-50"/>
              <a:t>&amp; </a:t>
            </a:r>
            <a:r>
              <a:rPr dirty="0"/>
              <a:t>INTERACTIVE</a:t>
            </a:r>
            <a:r>
              <a:rPr dirty="0" spc="-150"/>
              <a:t> </a:t>
            </a:r>
            <a:r>
              <a:rPr dirty="0" spc="-10"/>
              <a:t>FEATURES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6265341" y="2153132"/>
            <a:ext cx="734949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Power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BI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dashboard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is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designed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for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end-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users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explore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Blinkit's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data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dynamically.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Three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primary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filter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panels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allow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instant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slicing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all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visuals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simultaneously.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278041" y="2826905"/>
            <a:ext cx="3709035" cy="2078355"/>
            <a:chOff x="6278041" y="2826905"/>
            <a:chExt cx="3709035" cy="2078355"/>
          </a:xfrm>
        </p:grpSpPr>
        <p:sp>
          <p:nvSpPr>
            <p:cNvPr id="11" name="object 11" descr=""/>
            <p:cNvSpPr/>
            <p:nvPr/>
          </p:nvSpPr>
          <p:spPr>
            <a:xfrm>
              <a:off x="6278042" y="2826905"/>
              <a:ext cx="3709035" cy="2078355"/>
            </a:xfrm>
            <a:custGeom>
              <a:avLst/>
              <a:gdLst/>
              <a:ahLst/>
              <a:cxnLst/>
              <a:rect l="l" t="t" r="r" b="b"/>
              <a:pathLst>
                <a:path w="3709034" h="2078354">
                  <a:moveTo>
                    <a:pt x="3709035" y="252349"/>
                  </a:moveTo>
                  <a:lnTo>
                    <a:pt x="3704933" y="207238"/>
                  </a:lnTo>
                  <a:lnTo>
                    <a:pt x="3693134" y="164680"/>
                  </a:lnTo>
                  <a:lnTo>
                    <a:pt x="3674364" y="125399"/>
                  </a:lnTo>
                  <a:lnTo>
                    <a:pt x="3649370" y="90157"/>
                  </a:lnTo>
                  <a:lnTo>
                    <a:pt x="3618877" y="59664"/>
                  </a:lnTo>
                  <a:lnTo>
                    <a:pt x="3583635" y="34671"/>
                  </a:lnTo>
                  <a:lnTo>
                    <a:pt x="3544354" y="15900"/>
                  </a:lnTo>
                  <a:lnTo>
                    <a:pt x="3501796" y="4102"/>
                  </a:lnTo>
                  <a:lnTo>
                    <a:pt x="3456686" y="0"/>
                  </a:lnTo>
                  <a:lnTo>
                    <a:pt x="252336" y="0"/>
                  </a:lnTo>
                  <a:lnTo>
                    <a:pt x="207225" y="4102"/>
                  </a:lnTo>
                  <a:lnTo>
                    <a:pt x="164668" y="15900"/>
                  </a:lnTo>
                  <a:lnTo>
                    <a:pt x="125387" y="34671"/>
                  </a:lnTo>
                  <a:lnTo>
                    <a:pt x="90144" y="59664"/>
                  </a:lnTo>
                  <a:lnTo>
                    <a:pt x="59651" y="90157"/>
                  </a:lnTo>
                  <a:lnTo>
                    <a:pt x="34658" y="125399"/>
                  </a:lnTo>
                  <a:lnTo>
                    <a:pt x="15887" y="164680"/>
                  </a:lnTo>
                  <a:lnTo>
                    <a:pt x="4089" y="207238"/>
                  </a:lnTo>
                  <a:lnTo>
                    <a:pt x="0" y="252349"/>
                  </a:lnTo>
                  <a:lnTo>
                    <a:pt x="0" y="1825421"/>
                  </a:lnTo>
                  <a:lnTo>
                    <a:pt x="4089" y="1870544"/>
                  </a:lnTo>
                  <a:lnTo>
                    <a:pt x="15887" y="1913102"/>
                  </a:lnTo>
                  <a:lnTo>
                    <a:pt x="34658" y="1952371"/>
                  </a:lnTo>
                  <a:lnTo>
                    <a:pt x="59651" y="1987626"/>
                  </a:lnTo>
                  <a:lnTo>
                    <a:pt x="90144" y="2018106"/>
                  </a:lnTo>
                  <a:lnTo>
                    <a:pt x="125387" y="2043099"/>
                  </a:lnTo>
                  <a:lnTo>
                    <a:pt x="164668" y="2061870"/>
                  </a:lnTo>
                  <a:lnTo>
                    <a:pt x="207225" y="2073668"/>
                  </a:lnTo>
                  <a:lnTo>
                    <a:pt x="252336" y="2077758"/>
                  </a:lnTo>
                  <a:lnTo>
                    <a:pt x="3456686" y="2077758"/>
                  </a:lnTo>
                  <a:lnTo>
                    <a:pt x="3501796" y="2073668"/>
                  </a:lnTo>
                  <a:lnTo>
                    <a:pt x="3544354" y="2061870"/>
                  </a:lnTo>
                  <a:lnTo>
                    <a:pt x="3583635" y="2043099"/>
                  </a:lnTo>
                  <a:lnTo>
                    <a:pt x="3618877" y="2018106"/>
                  </a:lnTo>
                  <a:lnTo>
                    <a:pt x="3649370" y="1987626"/>
                  </a:lnTo>
                  <a:lnTo>
                    <a:pt x="3674364" y="1952371"/>
                  </a:lnTo>
                  <a:lnTo>
                    <a:pt x="3693134" y="1913102"/>
                  </a:lnTo>
                  <a:lnTo>
                    <a:pt x="3704933" y="1870544"/>
                  </a:lnTo>
                  <a:lnTo>
                    <a:pt x="3709035" y="1825421"/>
                  </a:lnTo>
                  <a:lnTo>
                    <a:pt x="3709035" y="252349"/>
                  </a:lnTo>
                  <a:close/>
                </a:path>
              </a:pathLst>
            </a:custGeom>
            <a:solidFill>
              <a:srgbClr val="E2BB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5115" y="3133839"/>
              <a:ext cx="227051" cy="22705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6433578" y="3634117"/>
            <a:ext cx="3309620" cy="861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6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LOCATION</a:t>
            </a:r>
            <a:r>
              <a:rPr dirty="0" sz="16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FILTER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7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Toggle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between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1,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2,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city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30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compare</a:t>
            </a:r>
            <a:r>
              <a:rPr dirty="0" sz="130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geographic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performance.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0129596" y="2826905"/>
            <a:ext cx="3709670" cy="2078355"/>
            <a:chOff x="10129596" y="2826905"/>
            <a:chExt cx="3709670" cy="2078355"/>
          </a:xfrm>
        </p:grpSpPr>
        <p:sp>
          <p:nvSpPr>
            <p:cNvPr id="15" name="object 15" descr=""/>
            <p:cNvSpPr/>
            <p:nvPr/>
          </p:nvSpPr>
          <p:spPr>
            <a:xfrm>
              <a:off x="10129596" y="2826905"/>
              <a:ext cx="3709670" cy="2078355"/>
            </a:xfrm>
            <a:custGeom>
              <a:avLst/>
              <a:gdLst/>
              <a:ahLst/>
              <a:cxnLst/>
              <a:rect l="l" t="t" r="r" b="b"/>
              <a:pathLst>
                <a:path w="3709669" h="2078354">
                  <a:moveTo>
                    <a:pt x="3456813" y="0"/>
                  </a:moveTo>
                  <a:lnTo>
                    <a:pt x="252343" y="0"/>
                  </a:lnTo>
                  <a:lnTo>
                    <a:pt x="207230" y="4096"/>
                  </a:lnTo>
                  <a:lnTo>
                    <a:pt x="164669" y="15894"/>
                  </a:lnTo>
                  <a:lnTo>
                    <a:pt x="125396" y="34658"/>
                  </a:lnTo>
                  <a:lnTo>
                    <a:pt x="90146" y="59654"/>
                  </a:lnTo>
                  <a:lnTo>
                    <a:pt x="59655" y="90144"/>
                  </a:lnTo>
                  <a:lnTo>
                    <a:pt x="34659" y="125395"/>
                  </a:lnTo>
                  <a:lnTo>
                    <a:pt x="15894" y="164669"/>
                  </a:lnTo>
                  <a:lnTo>
                    <a:pt x="4096" y="207232"/>
                  </a:lnTo>
                  <a:lnTo>
                    <a:pt x="0" y="252349"/>
                  </a:lnTo>
                  <a:lnTo>
                    <a:pt x="0" y="1825421"/>
                  </a:lnTo>
                  <a:lnTo>
                    <a:pt x="4096" y="1870534"/>
                  </a:lnTo>
                  <a:lnTo>
                    <a:pt x="15894" y="1913094"/>
                  </a:lnTo>
                  <a:lnTo>
                    <a:pt x="34659" y="1952366"/>
                  </a:lnTo>
                  <a:lnTo>
                    <a:pt x="59655" y="1987615"/>
                  </a:lnTo>
                  <a:lnTo>
                    <a:pt x="90146" y="2018105"/>
                  </a:lnTo>
                  <a:lnTo>
                    <a:pt x="125396" y="2043099"/>
                  </a:lnTo>
                  <a:lnTo>
                    <a:pt x="164669" y="2061863"/>
                  </a:lnTo>
                  <a:lnTo>
                    <a:pt x="207230" y="2073661"/>
                  </a:lnTo>
                  <a:lnTo>
                    <a:pt x="252343" y="2077758"/>
                  </a:lnTo>
                  <a:lnTo>
                    <a:pt x="3456813" y="2077758"/>
                  </a:lnTo>
                  <a:lnTo>
                    <a:pt x="3501925" y="2073661"/>
                  </a:lnTo>
                  <a:lnTo>
                    <a:pt x="3544485" y="2061863"/>
                  </a:lnTo>
                  <a:lnTo>
                    <a:pt x="3583757" y="2043099"/>
                  </a:lnTo>
                  <a:lnTo>
                    <a:pt x="3619006" y="2018105"/>
                  </a:lnTo>
                  <a:lnTo>
                    <a:pt x="3649496" y="1987615"/>
                  </a:lnTo>
                  <a:lnTo>
                    <a:pt x="3674491" y="1952366"/>
                  </a:lnTo>
                  <a:lnTo>
                    <a:pt x="3693255" y="1913094"/>
                  </a:lnTo>
                  <a:lnTo>
                    <a:pt x="3705053" y="1870534"/>
                  </a:lnTo>
                  <a:lnTo>
                    <a:pt x="3709149" y="1825421"/>
                  </a:lnTo>
                  <a:lnTo>
                    <a:pt x="3709149" y="252349"/>
                  </a:lnTo>
                  <a:lnTo>
                    <a:pt x="3705053" y="207232"/>
                  </a:lnTo>
                  <a:lnTo>
                    <a:pt x="3693255" y="164669"/>
                  </a:lnTo>
                  <a:lnTo>
                    <a:pt x="3674491" y="125395"/>
                  </a:lnTo>
                  <a:lnTo>
                    <a:pt x="3649496" y="90144"/>
                  </a:lnTo>
                  <a:lnTo>
                    <a:pt x="3619006" y="59654"/>
                  </a:lnTo>
                  <a:lnTo>
                    <a:pt x="3583757" y="34658"/>
                  </a:lnTo>
                  <a:lnTo>
                    <a:pt x="3544485" y="15894"/>
                  </a:lnTo>
                  <a:lnTo>
                    <a:pt x="3501925" y="4096"/>
                  </a:lnTo>
                  <a:lnTo>
                    <a:pt x="3456813" y="0"/>
                  </a:lnTo>
                  <a:close/>
                </a:path>
              </a:pathLst>
            </a:custGeom>
            <a:solidFill>
              <a:srgbClr val="E2BB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297833" y="2995129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352" y="0"/>
                  </a:moveTo>
                  <a:lnTo>
                    <a:pt x="207237" y="4096"/>
                  </a:lnTo>
                  <a:lnTo>
                    <a:pt x="164675" y="15895"/>
                  </a:lnTo>
                  <a:lnTo>
                    <a:pt x="125400" y="34661"/>
                  </a:lnTo>
                  <a:lnTo>
                    <a:pt x="90149" y="59658"/>
                  </a:lnTo>
                  <a:lnTo>
                    <a:pt x="59657" y="90149"/>
                  </a:lnTo>
                  <a:lnTo>
                    <a:pt x="34661" y="125400"/>
                  </a:lnTo>
                  <a:lnTo>
                    <a:pt x="15895" y="164674"/>
                  </a:lnTo>
                  <a:lnTo>
                    <a:pt x="4096" y="207236"/>
                  </a:lnTo>
                  <a:lnTo>
                    <a:pt x="0" y="252349"/>
                  </a:lnTo>
                  <a:lnTo>
                    <a:pt x="4096" y="297465"/>
                  </a:lnTo>
                  <a:lnTo>
                    <a:pt x="15895" y="340029"/>
                  </a:lnTo>
                  <a:lnTo>
                    <a:pt x="34661" y="379306"/>
                  </a:lnTo>
                  <a:lnTo>
                    <a:pt x="59657" y="414558"/>
                  </a:lnTo>
                  <a:lnTo>
                    <a:pt x="90149" y="445051"/>
                  </a:lnTo>
                  <a:lnTo>
                    <a:pt x="125400" y="470048"/>
                  </a:lnTo>
                  <a:lnTo>
                    <a:pt x="164675" y="488814"/>
                  </a:lnTo>
                  <a:lnTo>
                    <a:pt x="207237" y="500614"/>
                  </a:lnTo>
                  <a:lnTo>
                    <a:pt x="252352" y="504710"/>
                  </a:lnTo>
                  <a:lnTo>
                    <a:pt x="297467" y="500614"/>
                  </a:lnTo>
                  <a:lnTo>
                    <a:pt x="340030" y="488814"/>
                  </a:lnTo>
                  <a:lnTo>
                    <a:pt x="379304" y="470048"/>
                  </a:lnTo>
                  <a:lnTo>
                    <a:pt x="414556" y="445051"/>
                  </a:lnTo>
                  <a:lnTo>
                    <a:pt x="445047" y="414558"/>
                  </a:lnTo>
                  <a:lnTo>
                    <a:pt x="470044" y="379306"/>
                  </a:lnTo>
                  <a:lnTo>
                    <a:pt x="488810" y="340029"/>
                  </a:lnTo>
                  <a:lnTo>
                    <a:pt x="500609" y="297465"/>
                  </a:lnTo>
                  <a:lnTo>
                    <a:pt x="504705" y="252349"/>
                  </a:lnTo>
                  <a:lnTo>
                    <a:pt x="500609" y="207236"/>
                  </a:lnTo>
                  <a:lnTo>
                    <a:pt x="488810" y="164674"/>
                  </a:lnTo>
                  <a:lnTo>
                    <a:pt x="470044" y="125400"/>
                  </a:lnTo>
                  <a:lnTo>
                    <a:pt x="445047" y="90149"/>
                  </a:lnTo>
                  <a:lnTo>
                    <a:pt x="414556" y="59658"/>
                  </a:lnTo>
                  <a:lnTo>
                    <a:pt x="379304" y="34661"/>
                  </a:lnTo>
                  <a:lnTo>
                    <a:pt x="340030" y="15895"/>
                  </a:lnTo>
                  <a:lnTo>
                    <a:pt x="297467" y="4096"/>
                  </a:lnTo>
                  <a:lnTo>
                    <a:pt x="252352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36657" y="3133839"/>
              <a:ext cx="227051" cy="227050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0285133" y="3634117"/>
            <a:ext cx="2950845" cy="1108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6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SIZE</a:t>
            </a:r>
            <a:r>
              <a:rPr dirty="0" sz="16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FILTER</a:t>
            </a:r>
            <a:endParaRPr sz="1650">
              <a:latin typeface="Arial"/>
              <a:cs typeface="Arial"/>
            </a:endParaRPr>
          </a:p>
          <a:p>
            <a:pPr algn="just" marL="12700" marR="5080">
              <a:lnSpc>
                <a:spcPct val="125000"/>
              </a:lnSpc>
              <a:spcBef>
                <a:spcPts val="7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Filter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by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Small,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Medium,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High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(Large)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size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identify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how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store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footprint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affects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sales.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278041" y="5047183"/>
            <a:ext cx="7560945" cy="1581150"/>
            <a:chOff x="6278041" y="5047183"/>
            <a:chExt cx="7560945" cy="1581150"/>
          </a:xfrm>
        </p:grpSpPr>
        <p:sp>
          <p:nvSpPr>
            <p:cNvPr id="20" name="object 20" descr=""/>
            <p:cNvSpPr/>
            <p:nvPr/>
          </p:nvSpPr>
          <p:spPr>
            <a:xfrm>
              <a:off x="6278041" y="5047183"/>
              <a:ext cx="7560945" cy="1581150"/>
            </a:xfrm>
            <a:custGeom>
              <a:avLst/>
              <a:gdLst/>
              <a:ahLst/>
              <a:cxnLst/>
              <a:rect l="l" t="t" r="r" b="b"/>
              <a:pathLst>
                <a:path w="7560944" h="1581150">
                  <a:moveTo>
                    <a:pt x="7308354" y="0"/>
                  </a:moveTo>
                  <a:lnTo>
                    <a:pt x="252351" y="0"/>
                  </a:lnTo>
                  <a:lnTo>
                    <a:pt x="207237" y="4096"/>
                  </a:lnTo>
                  <a:lnTo>
                    <a:pt x="164674" y="15895"/>
                  </a:lnTo>
                  <a:lnTo>
                    <a:pt x="125399" y="34661"/>
                  </a:lnTo>
                  <a:lnTo>
                    <a:pt x="90148" y="59658"/>
                  </a:lnTo>
                  <a:lnTo>
                    <a:pt x="59657" y="90149"/>
                  </a:lnTo>
                  <a:lnTo>
                    <a:pt x="34660" y="125400"/>
                  </a:lnTo>
                  <a:lnTo>
                    <a:pt x="15895" y="164674"/>
                  </a:lnTo>
                  <a:lnTo>
                    <a:pt x="4096" y="207236"/>
                  </a:lnTo>
                  <a:lnTo>
                    <a:pt x="0" y="252349"/>
                  </a:lnTo>
                  <a:lnTo>
                    <a:pt x="0" y="1328204"/>
                  </a:lnTo>
                  <a:lnTo>
                    <a:pt x="4096" y="1373316"/>
                  </a:lnTo>
                  <a:lnTo>
                    <a:pt x="15895" y="1415878"/>
                  </a:lnTo>
                  <a:lnTo>
                    <a:pt x="34660" y="1455152"/>
                  </a:lnTo>
                  <a:lnTo>
                    <a:pt x="59657" y="1490403"/>
                  </a:lnTo>
                  <a:lnTo>
                    <a:pt x="90148" y="1520894"/>
                  </a:lnTo>
                  <a:lnTo>
                    <a:pt x="125399" y="1545891"/>
                  </a:lnTo>
                  <a:lnTo>
                    <a:pt x="164674" y="1564657"/>
                  </a:lnTo>
                  <a:lnTo>
                    <a:pt x="207237" y="1576456"/>
                  </a:lnTo>
                  <a:lnTo>
                    <a:pt x="252351" y="1580553"/>
                  </a:lnTo>
                  <a:lnTo>
                    <a:pt x="7308354" y="1580553"/>
                  </a:lnTo>
                  <a:lnTo>
                    <a:pt x="7353470" y="1576456"/>
                  </a:lnTo>
                  <a:lnTo>
                    <a:pt x="7396034" y="1564657"/>
                  </a:lnTo>
                  <a:lnTo>
                    <a:pt x="7435308" y="1545891"/>
                  </a:lnTo>
                  <a:lnTo>
                    <a:pt x="7470558" y="1520894"/>
                  </a:lnTo>
                  <a:lnTo>
                    <a:pt x="7501049" y="1490403"/>
                  </a:lnTo>
                  <a:lnTo>
                    <a:pt x="7526044" y="1455152"/>
                  </a:lnTo>
                  <a:lnTo>
                    <a:pt x="7544809" y="1415878"/>
                  </a:lnTo>
                  <a:lnTo>
                    <a:pt x="7556607" y="1373316"/>
                  </a:lnTo>
                  <a:lnTo>
                    <a:pt x="7560703" y="1328204"/>
                  </a:lnTo>
                  <a:lnTo>
                    <a:pt x="7560703" y="252349"/>
                  </a:lnTo>
                  <a:lnTo>
                    <a:pt x="7556607" y="207236"/>
                  </a:lnTo>
                  <a:lnTo>
                    <a:pt x="7544809" y="164674"/>
                  </a:lnTo>
                  <a:lnTo>
                    <a:pt x="7526044" y="125400"/>
                  </a:lnTo>
                  <a:lnTo>
                    <a:pt x="7501049" y="90149"/>
                  </a:lnTo>
                  <a:lnTo>
                    <a:pt x="7470558" y="59658"/>
                  </a:lnTo>
                  <a:lnTo>
                    <a:pt x="7435308" y="34661"/>
                  </a:lnTo>
                  <a:lnTo>
                    <a:pt x="7396034" y="15895"/>
                  </a:lnTo>
                  <a:lnTo>
                    <a:pt x="7353470" y="4096"/>
                  </a:lnTo>
                  <a:lnTo>
                    <a:pt x="7308354" y="0"/>
                  </a:lnTo>
                  <a:close/>
                </a:path>
              </a:pathLst>
            </a:custGeom>
            <a:solidFill>
              <a:srgbClr val="E2BB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46278" y="5215419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352" y="0"/>
                  </a:moveTo>
                  <a:lnTo>
                    <a:pt x="207237" y="4096"/>
                  </a:lnTo>
                  <a:lnTo>
                    <a:pt x="164675" y="15895"/>
                  </a:lnTo>
                  <a:lnTo>
                    <a:pt x="125400" y="34661"/>
                  </a:lnTo>
                  <a:lnTo>
                    <a:pt x="90149" y="59658"/>
                  </a:lnTo>
                  <a:lnTo>
                    <a:pt x="59657" y="90149"/>
                  </a:lnTo>
                  <a:lnTo>
                    <a:pt x="34661" y="125400"/>
                  </a:lnTo>
                  <a:lnTo>
                    <a:pt x="15895" y="164674"/>
                  </a:lnTo>
                  <a:lnTo>
                    <a:pt x="4096" y="207236"/>
                  </a:lnTo>
                  <a:lnTo>
                    <a:pt x="0" y="252349"/>
                  </a:lnTo>
                  <a:lnTo>
                    <a:pt x="4096" y="297465"/>
                  </a:lnTo>
                  <a:lnTo>
                    <a:pt x="15895" y="340029"/>
                  </a:lnTo>
                  <a:lnTo>
                    <a:pt x="34661" y="379306"/>
                  </a:lnTo>
                  <a:lnTo>
                    <a:pt x="59657" y="414558"/>
                  </a:lnTo>
                  <a:lnTo>
                    <a:pt x="90149" y="445051"/>
                  </a:lnTo>
                  <a:lnTo>
                    <a:pt x="125400" y="470048"/>
                  </a:lnTo>
                  <a:lnTo>
                    <a:pt x="164675" y="488814"/>
                  </a:lnTo>
                  <a:lnTo>
                    <a:pt x="207237" y="500614"/>
                  </a:lnTo>
                  <a:lnTo>
                    <a:pt x="252352" y="504710"/>
                  </a:lnTo>
                  <a:lnTo>
                    <a:pt x="297467" y="500614"/>
                  </a:lnTo>
                  <a:lnTo>
                    <a:pt x="340030" y="488814"/>
                  </a:lnTo>
                  <a:lnTo>
                    <a:pt x="379304" y="470048"/>
                  </a:lnTo>
                  <a:lnTo>
                    <a:pt x="414556" y="445051"/>
                  </a:lnTo>
                  <a:lnTo>
                    <a:pt x="445047" y="414558"/>
                  </a:lnTo>
                  <a:lnTo>
                    <a:pt x="470044" y="379306"/>
                  </a:lnTo>
                  <a:lnTo>
                    <a:pt x="488810" y="340029"/>
                  </a:lnTo>
                  <a:lnTo>
                    <a:pt x="500609" y="297465"/>
                  </a:lnTo>
                  <a:lnTo>
                    <a:pt x="504705" y="252349"/>
                  </a:lnTo>
                  <a:lnTo>
                    <a:pt x="500609" y="207236"/>
                  </a:lnTo>
                  <a:lnTo>
                    <a:pt x="488810" y="164674"/>
                  </a:lnTo>
                  <a:lnTo>
                    <a:pt x="470044" y="125400"/>
                  </a:lnTo>
                  <a:lnTo>
                    <a:pt x="445047" y="90149"/>
                  </a:lnTo>
                  <a:lnTo>
                    <a:pt x="414556" y="59658"/>
                  </a:lnTo>
                  <a:lnTo>
                    <a:pt x="379304" y="34661"/>
                  </a:lnTo>
                  <a:lnTo>
                    <a:pt x="340030" y="15895"/>
                  </a:lnTo>
                  <a:lnTo>
                    <a:pt x="297467" y="4096"/>
                  </a:lnTo>
                  <a:lnTo>
                    <a:pt x="252352" y="0"/>
                  </a:lnTo>
                  <a:close/>
                </a:path>
              </a:pathLst>
            </a:custGeom>
            <a:solidFill>
              <a:srgbClr val="9F61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5115" y="5354116"/>
              <a:ext cx="227051" cy="227050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6433578" y="5854395"/>
            <a:ext cx="6590665" cy="61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ITEM</a:t>
            </a:r>
            <a:r>
              <a:rPr dirty="0" sz="16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TYPE</a:t>
            </a:r>
            <a:r>
              <a:rPr dirty="0" sz="16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FILTER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Drill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down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into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specific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product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categories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such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as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Fruits,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Snacks,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Dairy,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or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Frozen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Foods.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278041" y="6788112"/>
            <a:ext cx="7560945" cy="894080"/>
            <a:chOff x="6278041" y="6788112"/>
            <a:chExt cx="7560945" cy="894080"/>
          </a:xfrm>
        </p:grpSpPr>
        <p:sp>
          <p:nvSpPr>
            <p:cNvPr id="25" name="object 25" descr=""/>
            <p:cNvSpPr/>
            <p:nvPr/>
          </p:nvSpPr>
          <p:spPr>
            <a:xfrm>
              <a:off x="6278041" y="6788112"/>
              <a:ext cx="7560945" cy="894080"/>
            </a:xfrm>
            <a:custGeom>
              <a:avLst/>
              <a:gdLst/>
              <a:ahLst/>
              <a:cxnLst/>
              <a:rect l="l" t="t" r="r" b="b"/>
              <a:pathLst>
                <a:path w="7560944" h="894079">
                  <a:moveTo>
                    <a:pt x="7308354" y="0"/>
                  </a:moveTo>
                  <a:lnTo>
                    <a:pt x="252351" y="0"/>
                  </a:lnTo>
                  <a:lnTo>
                    <a:pt x="207237" y="4096"/>
                  </a:lnTo>
                  <a:lnTo>
                    <a:pt x="164674" y="15895"/>
                  </a:lnTo>
                  <a:lnTo>
                    <a:pt x="125399" y="34661"/>
                  </a:lnTo>
                  <a:lnTo>
                    <a:pt x="90148" y="59658"/>
                  </a:lnTo>
                  <a:lnTo>
                    <a:pt x="59657" y="90149"/>
                  </a:lnTo>
                  <a:lnTo>
                    <a:pt x="34660" y="125400"/>
                  </a:lnTo>
                  <a:lnTo>
                    <a:pt x="15895" y="164674"/>
                  </a:lnTo>
                  <a:lnTo>
                    <a:pt x="4096" y="207236"/>
                  </a:lnTo>
                  <a:lnTo>
                    <a:pt x="0" y="252349"/>
                  </a:lnTo>
                  <a:lnTo>
                    <a:pt x="0" y="641692"/>
                  </a:lnTo>
                  <a:lnTo>
                    <a:pt x="4096" y="686805"/>
                  </a:lnTo>
                  <a:lnTo>
                    <a:pt x="15895" y="729367"/>
                  </a:lnTo>
                  <a:lnTo>
                    <a:pt x="34660" y="768641"/>
                  </a:lnTo>
                  <a:lnTo>
                    <a:pt x="59657" y="803891"/>
                  </a:lnTo>
                  <a:lnTo>
                    <a:pt x="90148" y="834383"/>
                  </a:lnTo>
                  <a:lnTo>
                    <a:pt x="125399" y="859380"/>
                  </a:lnTo>
                  <a:lnTo>
                    <a:pt x="164674" y="878146"/>
                  </a:lnTo>
                  <a:lnTo>
                    <a:pt x="207237" y="889945"/>
                  </a:lnTo>
                  <a:lnTo>
                    <a:pt x="252351" y="894041"/>
                  </a:lnTo>
                  <a:lnTo>
                    <a:pt x="7308354" y="894041"/>
                  </a:lnTo>
                  <a:lnTo>
                    <a:pt x="7353470" y="889945"/>
                  </a:lnTo>
                  <a:lnTo>
                    <a:pt x="7396034" y="878146"/>
                  </a:lnTo>
                  <a:lnTo>
                    <a:pt x="7435308" y="859380"/>
                  </a:lnTo>
                  <a:lnTo>
                    <a:pt x="7470558" y="834383"/>
                  </a:lnTo>
                  <a:lnTo>
                    <a:pt x="7501049" y="803891"/>
                  </a:lnTo>
                  <a:lnTo>
                    <a:pt x="7526044" y="768641"/>
                  </a:lnTo>
                  <a:lnTo>
                    <a:pt x="7544809" y="729367"/>
                  </a:lnTo>
                  <a:lnTo>
                    <a:pt x="7556607" y="686805"/>
                  </a:lnTo>
                  <a:lnTo>
                    <a:pt x="7560703" y="641692"/>
                  </a:lnTo>
                  <a:lnTo>
                    <a:pt x="7560703" y="252349"/>
                  </a:lnTo>
                  <a:lnTo>
                    <a:pt x="7556607" y="207236"/>
                  </a:lnTo>
                  <a:lnTo>
                    <a:pt x="7544809" y="164674"/>
                  </a:lnTo>
                  <a:lnTo>
                    <a:pt x="7526044" y="125400"/>
                  </a:lnTo>
                  <a:lnTo>
                    <a:pt x="7501049" y="90149"/>
                  </a:lnTo>
                  <a:lnTo>
                    <a:pt x="7470558" y="59658"/>
                  </a:lnTo>
                  <a:lnTo>
                    <a:pt x="7435308" y="34661"/>
                  </a:lnTo>
                  <a:lnTo>
                    <a:pt x="7396034" y="15895"/>
                  </a:lnTo>
                  <a:lnTo>
                    <a:pt x="7353470" y="4096"/>
                  </a:lnTo>
                  <a:lnTo>
                    <a:pt x="7308354" y="0"/>
                  </a:lnTo>
                  <a:close/>
                </a:path>
              </a:pathLst>
            </a:custGeom>
            <a:solidFill>
              <a:srgbClr val="EDD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6278" y="7026351"/>
              <a:ext cx="210263" cy="168236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6812076" y="6956462"/>
            <a:ext cx="683069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>
                <a:latin typeface="Arial"/>
                <a:cs typeface="Arial"/>
              </a:rPr>
              <a:t>All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visuals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are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cross-</a:t>
            </a:r>
            <a:r>
              <a:rPr dirty="0" sz="1300">
                <a:latin typeface="Arial"/>
                <a:cs typeface="Arial"/>
              </a:rPr>
              <a:t>filtered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—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selecting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any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slicer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instantly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updates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every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chart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and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KPI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card </a:t>
            </a:r>
            <a:r>
              <a:rPr dirty="0" sz="1300">
                <a:latin typeface="Arial"/>
                <a:cs typeface="Arial"/>
              </a:rPr>
              <a:t>on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dashboard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in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real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time.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781605"/>
            <a:ext cx="10785475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6250" algn="l"/>
                <a:tab pos="4305300" algn="l"/>
                <a:tab pos="4773295" algn="l"/>
                <a:tab pos="6094095" algn="l"/>
                <a:tab pos="7525384" algn="l"/>
              </a:tabLst>
            </a:pPr>
            <a:r>
              <a:rPr dirty="0" sz="3900" spc="-10"/>
              <a:t>SALES</a:t>
            </a:r>
            <a:r>
              <a:rPr dirty="0" sz="3900"/>
              <a:t>	</a:t>
            </a:r>
            <a:r>
              <a:rPr dirty="0" sz="3900" spc="-10"/>
              <a:t>ANALYSIS</a:t>
            </a:r>
            <a:r>
              <a:rPr dirty="0" sz="3900"/>
              <a:t>	</a:t>
            </a:r>
            <a:r>
              <a:rPr dirty="0" sz="3900" spc="-50"/>
              <a:t>&amp;</a:t>
            </a:r>
            <a:r>
              <a:rPr dirty="0" sz="3900"/>
              <a:t>	</a:t>
            </a:r>
            <a:r>
              <a:rPr dirty="0" sz="3900" spc="-20"/>
              <a:t>ITEM</a:t>
            </a:r>
            <a:r>
              <a:rPr dirty="0" sz="3900"/>
              <a:t>	</a:t>
            </a:r>
            <a:r>
              <a:rPr dirty="0" sz="3900" spc="-20"/>
              <a:t>TYPE</a:t>
            </a:r>
            <a:r>
              <a:rPr dirty="0" sz="3900"/>
              <a:t>	</a:t>
            </a:r>
            <a:r>
              <a:rPr dirty="0" sz="3900" spc="-10"/>
              <a:t>BREAKDOWN</a:t>
            </a:r>
            <a:endParaRPr sz="3900"/>
          </a:p>
        </p:txBody>
      </p:sp>
      <p:sp>
        <p:nvSpPr>
          <p:cNvPr id="3" name="object 3" descr=""/>
          <p:cNvSpPr txBox="1"/>
          <p:nvPr/>
        </p:nvSpPr>
        <p:spPr>
          <a:xfrm>
            <a:off x="781089" y="1888972"/>
            <a:ext cx="6149340" cy="1480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OUTLET</a:t>
            </a:r>
            <a:r>
              <a:rPr dirty="0" sz="1950" spc="-7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ESTABLISHMENT</a:t>
            </a:r>
            <a:r>
              <a:rPr dirty="0" sz="1950" spc="-7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9F612C"/>
                </a:solidFill>
                <a:latin typeface="Arial"/>
                <a:cs typeface="Arial"/>
              </a:rPr>
              <a:t>TREND</a:t>
            </a:r>
            <a:endParaRPr sz="1950">
              <a:latin typeface="Arial"/>
              <a:cs typeface="Arial"/>
            </a:endParaRPr>
          </a:p>
          <a:p>
            <a:pPr algn="just" marL="12700" marR="5080">
              <a:lnSpc>
                <a:spcPct val="134400"/>
              </a:lnSpc>
              <a:spcBef>
                <a:spcPts val="1610"/>
              </a:spcBef>
            </a:pP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Year-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wise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growth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analysis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reveals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how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Blinkit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scaled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its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network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over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time,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highlighting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peak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expansion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periods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market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penetration milestones.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89" y="3583660"/>
            <a:ext cx="6279349" cy="282571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770210" y="3619717"/>
            <a:ext cx="1050290" cy="57658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655"/>
              </a:spcBef>
            </a:pPr>
            <a:r>
              <a:rPr dirty="0" sz="1050">
                <a:solidFill>
                  <a:srgbClr val="3E3C3A"/>
                </a:solidFill>
                <a:latin typeface="Arial"/>
                <a:cs typeface="Arial"/>
              </a:rPr>
              <a:t>EARLY</a:t>
            </a:r>
            <a:r>
              <a:rPr dirty="0" sz="10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E3C3A"/>
                </a:solidFill>
                <a:latin typeface="Arial"/>
                <a:cs typeface="Arial"/>
              </a:rPr>
              <a:t>LAUNCH</a:t>
            </a:r>
            <a:endParaRPr sz="1050">
              <a:latin typeface="Arial"/>
              <a:cs typeface="Arial"/>
            </a:endParaRPr>
          </a:p>
          <a:p>
            <a:pPr algn="ctr" marR="5080">
              <a:lnSpc>
                <a:spcPct val="102899"/>
              </a:lnSpc>
              <a:spcBef>
                <a:spcPts val="425"/>
              </a:spcBef>
            </a:pP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Initial</a:t>
            </a:r>
            <a:r>
              <a:rPr dirty="0" sz="8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8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8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E3C3A"/>
                </a:solidFill>
                <a:latin typeface="Arial"/>
                <a:cs typeface="Arial"/>
              </a:rPr>
              <a:t>pilot markets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11104" y="5724956"/>
            <a:ext cx="948690" cy="6756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ctr" marL="78740" marR="83820">
              <a:lnSpc>
                <a:spcPct val="103200"/>
              </a:lnSpc>
              <a:spcBef>
                <a:spcPts val="60"/>
              </a:spcBef>
            </a:pPr>
            <a:r>
              <a:rPr dirty="0" sz="1050" spc="-20">
                <a:solidFill>
                  <a:srgbClr val="3E3C3A"/>
                </a:solidFill>
                <a:latin typeface="Arial"/>
                <a:cs typeface="Arial"/>
              </a:rPr>
              <a:t>RAPID </a:t>
            </a:r>
            <a:r>
              <a:rPr dirty="0" sz="1050" spc="-10">
                <a:solidFill>
                  <a:srgbClr val="3E3C3A"/>
                </a:solidFill>
                <a:latin typeface="Arial"/>
                <a:cs typeface="Arial"/>
              </a:rPr>
              <a:t>EXPANSION</a:t>
            </a:r>
            <a:endParaRPr sz="1050">
              <a:latin typeface="Arial"/>
              <a:cs typeface="Arial"/>
            </a:endParaRPr>
          </a:p>
          <a:p>
            <a:pPr algn="ctr" marR="5080">
              <a:lnSpc>
                <a:spcPct val="102899"/>
              </a:lnSpc>
              <a:spcBef>
                <a:spcPts val="455"/>
              </a:spcBef>
            </a:pPr>
            <a:r>
              <a:rPr dirty="0" sz="850" spc="-10">
                <a:solidFill>
                  <a:srgbClr val="3E3C3A"/>
                </a:solidFill>
                <a:latin typeface="Arial"/>
                <a:cs typeface="Arial"/>
              </a:rPr>
              <a:t>Aggressive</a:t>
            </a:r>
            <a:r>
              <a:rPr dirty="0" sz="850" spc="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city</a:t>
            </a:r>
            <a:r>
              <a:rPr dirty="0" sz="850" spc="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3E3C3A"/>
                </a:solidFill>
                <a:latin typeface="Arial"/>
                <a:cs typeface="Arial"/>
              </a:rPr>
              <a:t>and </a:t>
            </a: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SKU</a:t>
            </a:r>
            <a:r>
              <a:rPr dirty="0" sz="8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E3C3A"/>
                </a:solidFill>
                <a:latin typeface="Arial"/>
                <a:cs typeface="Arial"/>
              </a:rPr>
              <a:t>rollout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07764" y="3584549"/>
            <a:ext cx="1099185" cy="6756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ctr" marL="201930" marR="207645" indent="635">
              <a:lnSpc>
                <a:spcPct val="103200"/>
              </a:lnSpc>
              <a:spcBef>
                <a:spcPts val="60"/>
              </a:spcBef>
            </a:pPr>
            <a:r>
              <a:rPr dirty="0" sz="1050" spc="-10">
                <a:solidFill>
                  <a:srgbClr val="3E3C3A"/>
                </a:solidFill>
                <a:latin typeface="Arial"/>
                <a:cs typeface="Arial"/>
              </a:rPr>
              <a:t>MARKET MATURITY</a:t>
            </a:r>
            <a:endParaRPr sz="1050">
              <a:latin typeface="Arial"/>
              <a:cs typeface="Arial"/>
            </a:endParaRPr>
          </a:p>
          <a:p>
            <a:pPr algn="ctr" marR="5080">
              <a:lnSpc>
                <a:spcPct val="102899"/>
              </a:lnSpc>
              <a:spcBef>
                <a:spcPts val="455"/>
              </a:spcBef>
            </a:pPr>
            <a:r>
              <a:rPr dirty="0" sz="850" spc="-10">
                <a:solidFill>
                  <a:srgbClr val="3E3C3A"/>
                </a:solidFill>
                <a:latin typeface="Arial"/>
                <a:cs typeface="Arial"/>
              </a:rPr>
              <a:t>Stabilized </a:t>
            </a: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network</a:t>
            </a:r>
            <a:r>
              <a:rPr dirty="0" sz="850" spc="-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3E3C3A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3E3C3A"/>
                </a:solidFill>
                <a:latin typeface="Arial"/>
                <a:cs typeface="Arial"/>
              </a:rPr>
              <a:t>retention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24516" y="5739021"/>
            <a:ext cx="1038860" cy="57658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655"/>
              </a:spcBef>
            </a:pPr>
            <a:r>
              <a:rPr dirty="0" sz="10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0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050" spc="-1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E3C3A"/>
                </a:solidFill>
                <a:latin typeface="Arial"/>
                <a:cs typeface="Arial"/>
              </a:rPr>
              <a:t>PUSH</a:t>
            </a:r>
            <a:endParaRPr sz="1050">
              <a:latin typeface="Arial"/>
              <a:cs typeface="Arial"/>
            </a:endParaRPr>
          </a:p>
          <a:p>
            <a:pPr algn="ctr" marR="5080">
              <a:lnSpc>
                <a:spcPct val="102899"/>
              </a:lnSpc>
              <a:spcBef>
                <a:spcPts val="425"/>
              </a:spcBef>
            </a:pPr>
            <a:r>
              <a:rPr dirty="0" sz="850" spc="-10">
                <a:solidFill>
                  <a:srgbClr val="3E3C3A"/>
                </a:solidFill>
                <a:latin typeface="Arial"/>
                <a:cs typeface="Arial"/>
              </a:rPr>
              <a:t>Deepening</a:t>
            </a:r>
            <a:r>
              <a:rPr dirty="0" sz="8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reach</a:t>
            </a:r>
            <a:r>
              <a:rPr dirty="0" sz="8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3E3C3A"/>
                </a:solidFill>
                <a:latin typeface="Arial"/>
                <a:cs typeface="Arial"/>
              </a:rPr>
              <a:t>into </a:t>
            </a:r>
            <a:r>
              <a:rPr dirty="0" sz="850">
                <a:solidFill>
                  <a:srgbClr val="3E3C3A"/>
                </a:solidFill>
                <a:latin typeface="Arial"/>
                <a:cs typeface="Arial"/>
              </a:rPr>
              <a:t>smaller</a:t>
            </a:r>
            <a:r>
              <a:rPr dirty="0" sz="8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E3C3A"/>
                </a:solidFill>
                <a:latin typeface="Arial"/>
                <a:cs typeface="Arial"/>
              </a:rPr>
              <a:t>towns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1089" y="6615747"/>
            <a:ext cx="620331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established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peak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years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contributed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disproportionately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total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sales,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reflecting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network-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effect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advantages.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9291" y="2438755"/>
            <a:ext cx="297656" cy="2976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9291" y="3979189"/>
            <a:ext cx="297656" cy="2976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39291" y="5519623"/>
            <a:ext cx="297656" cy="297649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TOP</a:t>
            </a:r>
            <a:r>
              <a:rPr dirty="0" spc="-20"/>
              <a:t> </a:t>
            </a:r>
            <a:r>
              <a:rPr dirty="0"/>
              <a:t>SELLING</a:t>
            </a:r>
            <a:r>
              <a:rPr dirty="0" spc="-20"/>
              <a:t> </a:t>
            </a:r>
            <a:r>
              <a:rPr dirty="0"/>
              <a:t>ITEM</a:t>
            </a:r>
            <a:r>
              <a:rPr dirty="0" spc="-20"/>
              <a:t> </a:t>
            </a:r>
            <a:r>
              <a:rPr dirty="0" spc="-10"/>
              <a:t>CATEGORIES</a:t>
            </a:r>
          </a:p>
          <a:p>
            <a:pPr marL="657225">
              <a:lnSpc>
                <a:spcPct val="100000"/>
              </a:lnSpc>
              <a:spcBef>
                <a:spcPts val="1860"/>
              </a:spcBef>
            </a:pPr>
            <a:r>
              <a:rPr dirty="0">
                <a:solidFill>
                  <a:srgbClr val="3E3C3A"/>
                </a:solidFill>
              </a:rPr>
              <a:t>FRUITS</a:t>
            </a:r>
            <a:r>
              <a:rPr dirty="0" spc="-25">
                <a:solidFill>
                  <a:srgbClr val="3E3C3A"/>
                </a:solidFill>
              </a:rPr>
              <a:t> </a:t>
            </a:r>
            <a:r>
              <a:rPr dirty="0">
                <a:solidFill>
                  <a:srgbClr val="3E3C3A"/>
                </a:solidFill>
              </a:rPr>
              <a:t>&amp;</a:t>
            </a:r>
            <a:r>
              <a:rPr dirty="0" spc="-20">
                <a:solidFill>
                  <a:srgbClr val="3E3C3A"/>
                </a:solidFill>
              </a:rPr>
              <a:t> </a:t>
            </a:r>
            <a:r>
              <a:rPr dirty="0" spc="-10">
                <a:solidFill>
                  <a:srgbClr val="3E3C3A"/>
                </a:solidFill>
              </a:rPr>
              <a:t>VEGETABLES</a:t>
            </a:r>
          </a:p>
          <a:p>
            <a:pPr marL="657225" marR="628650">
              <a:lnSpc>
                <a:spcPct val="134400"/>
              </a:lnSpc>
              <a:spcBef>
                <a:spcPts val="1610"/>
              </a:spcBef>
            </a:pPr>
            <a:r>
              <a:rPr dirty="0" sz="1550">
                <a:solidFill>
                  <a:srgbClr val="3E3C3A"/>
                </a:solidFill>
              </a:rPr>
              <a:t>Consistently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the</a:t>
            </a:r>
            <a:r>
              <a:rPr dirty="0" sz="1550" spc="-40">
                <a:solidFill>
                  <a:srgbClr val="3E3C3A"/>
                </a:solidFill>
              </a:rPr>
              <a:t> </a:t>
            </a:r>
            <a:r>
              <a:rPr dirty="0" sz="1550" spc="-10">
                <a:solidFill>
                  <a:srgbClr val="3E3C3A"/>
                </a:solidFill>
              </a:rPr>
              <a:t>top-</a:t>
            </a:r>
            <a:r>
              <a:rPr dirty="0" sz="1550">
                <a:solidFill>
                  <a:srgbClr val="3E3C3A"/>
                </a:solidFill>
              </a:rPr>
              <a:t>performing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category,</a:t>
            </a:r>
            <a:r>
              <a:rPr dirty="0" sz="1550" spc="-40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driven</a:t>
            </a:r>
            <a:r>
              <a:rPr dirty="0" sz="1550" spc="-40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by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 spc="-20">
                <a:solidFill>
                  <a:srgbClr val="3E3C3A"/>
                </a:solidFill>
              </a:rPr>
              <a:t>high </a:t>
            </a:r>
            <a:r>
              <a:rPr dirty="0" sz="1550">
                <a:solidFill>
                  <a:srgbClr val="3E3C3A"/>
                </a:solidFill>
              </a:rPr>
              <a:t>purchase</a:t>
            </a:r>
            <a:r>
              <a:rPr dirty="0" sz="1550" spc="-2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frequency</a:t>
            </a:r>
            <a:r>
              <a:rPr dirty="0" sz="1550" spc="-2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and</a:t>
            </a:r>
            <a:r>
              <a:rPr dirty="0" sz="1550" spc="-20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repeat</a:t>
            </a:r>
            <a:r>
              <a:rPr dirty="0" sz="1550" spc="-25">
                <a:solidFill>
                  <a:srgbClr val="3E3C3A"/>
                </a:solidFill>
              </a:rPr>
              <a:t> </a:t>
            </a:r>
            <a:r>
              <a:rPr dirty="0" sz="1550" spc="-10">
                <a:solidFill>
                  <a:srgbClr val="3E3C3A"/>
                </a:solidFill>
              </a:rPr>
              <a:t>customers.</a:t>
            </a:r>
            <a:endParaRPr sz="1550"/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1550"/>
          </a:p>
          <a:p>
            <a:pPr marL="657225">
              <a:lnSpc>
                <a:spcPct val="100000"/>
              </a:lnSpc>
            </a:pPr>
            <a:r>
              <a:rPr dirty="0">
                <a:solidFill>
                  <a:srgbClr val="3E3C3A"/>
                </a:solidFill>
              </a:rPr>
              <a:t>SNACK</a:t>
            </a:r>
            <a:r>
              <a:rPr dirty="0" spc="-65">
                <a:solidFill>
                  <a:srgbClr val="3E3C3A"/>
                </a:solidFill>
              </a:rPr>
              <a:t> </a:t>
            </a:r>
            <a:r>
              <a:rPr dirty="0" spc="-10">
                <a:solidFill>
                  <a:srgbClr val="3E3C3A"/>
                </a:solidFill>
              </a:rPr>
              <a:t>FOODS</a:t>
            </a:r>
          </a:p>
          <a:p>
            <a:pPr marL="657225" marR="310515">
              <a:lnSpc>
                <a:spcPct val="134400"/>
              </a:lnSpc>
              <a:spcBef>
                <a:spcPts val="1615"/>
              </a:spcBef>
            </a:pPr>
            <a:r>
              <a:rPr dirty="0" sz="1550">
                <a:solidFill>
                  <a:srgbClr val="3E3C3A"/>
                </a:solidFill>
              </a:rPr>
              <a:t>Second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highest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contributor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to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total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sales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volume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with</a:t>
            </a:r>
            <a:r>
              <a:rPr dirty="0" sz="1550" spc="-45">
                <a:solidFill>
                  <a:srgbClr val="3E3C3A"/>
                </a:solidFill>
              </a:rPr>
              <a:t> </a:t>
            </a:r>
            <a:r>
              <a:rPr dirty="0" sz="1550" spc="-10">
                <a:solidFill>
                  <a:srgbClr val="3E3C3A"/>
                </a:solidFill>
              </a:rPr>
              <a:t>strong impulse-</a:t>
            </a:r>
            <a:r>
              <a:rPr dirty="0" sz="1550">
                <a:solidFill>
                  <a:srgbClr val="3E3C3A"/>
                </a:solidFill>
              </a:rPr>
              <a:t>buy</a:t>
            </a:r>
            <a:r>
              <a:rPr dirty="0" sz="1550" spc="-3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behavior</a:t>
            </a:r>
            <a:r>
              <a:rPr dirty="0" sz="1550" spc="-30">
                <a:solidFill>
                  <a:srgbClr val="3E3C3A"/>
                </a:solidFill>
              </a:rPr>
              <a:t> </a:t>
            </a:r>
            <a:r>
              <a:rPr dirty="0" sz="1550" spc="-10">
                <a:solidFill>
                  <a:srgbClr val="3E3C3A"/>
                </a:solidFill>
              </a:rPr>
              <a:t>observed.</a:t>
            </a:r>
            <a:endParaRPr sz="1550"/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550"/>
          </a:p>
          <a:p>
            <a:pPr marL="657225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3E3C3A"/>
                </a:solidFill>
              </a:rPr>
              <a:t>FAT</a:t>
            </a:r>
            <a:r>
              <a:rPr dirty="0" spc="-35">
                <a:solidFill>
                  <a:srgbClr val="3E3C3A"/>
                </a:solidFill>
              </a:rPr>
              <a:t> </a:t>
            </a:r>
            <a:r>
              <a:rPr dirty="0">
                <a:solidFill>
                  <a:srgbClr val="3E3C3A"/>
                </a:solidFill>
              </a:rPr>
              <a:t>CONTENT</a:t>
            </a:r>
            <a:r>
              <a:rPr dirty="0" spc="-35">
                <a:solidFill>
                  <a:srgbClr val="3E3C3A"/>
                </a:solidFill>
              </a:rPr>
              <a:t> </a:t>
            </a:r>
            <a:r>
              <a:rPr dirty="0" spc="-10">
                <a:solidFill>
                  <a:srgbClr val="3E3C3A"/>
                </a:solidFill>
              </a:rPr>
              <a:t>COMPARISON</a:t>
            </a:r>
          </a:p>
          <a:p>
            <a:pPr marL="657225" marR="5080">
              <a:lnSpc>
                <a:spcPct val="134400"/>
              </a:lnSpc>
              <a:spcBef>
                <a:spcPts val="1610"/>
              </a:spcBef>
            </a:pP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Regular</a:t>
            </a:r>
            <a:r>
              <a:rPr dirty="0" sz="1550" spc="-2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Fat</a:t>
            </a:r>
            <a:r>
              <a:rPr dirty="0" sz="1550" spc="-2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</a:rPr>
              <a:t>items</a:t>
            </a:r>
            <a:r>
              <a:rPr dirty="0" sz="1550" spc="-20">
                <a:solidFill>
                  <a:srgbClr val="3E3C3A"/>
                </a:solidFill>
              </a:rPr>
              <a:t> </a:t>
            </a:r>
            <a:r>
              <a:rPr dirty="0" sz="1550" spc="-10">
                <a:solidFill>
                  <a:srgbClr val="3E3C3A"/>
                </a:solidFill>
              </a:rPr>
              <a:t>significantly</a:t>
            </a:r>
            <a:r>
              <a:rPr dirty="0" sz="1550" spc="-20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outsell</a:t>
            </a:r>
            <a:r>
              <a:rPr dirty="0" sz="1550" spc="-5">
                <a:solidFill>
                  <a:srgbClr val="3E3C3A"/>
                </a:solidFill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Low</a:t>
            </a:r>
            <a:r>
              <a:rPr dirty="0" sz="1550" spc="-2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Fat</a:t>
            </a:r>
            <a:r>
              <a:rPr dirty="0" sz="1550" spc="-2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</a:rPr>
              <a:t>alternatives, </a:t>
            </a:r>
            <a:r>
              <a:rPr dirty="0" sz="1550">
                <a:solidFill>
                  <a:srgbClr val="3E3C3A"/>
                </a:solidFill>
              </a:rPr>
              <a:t>indicating</a:t>
            </a:r>
            <a:r>
              <a:rPr dirty="0" sz="1550" spc="-3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customer</a:t>
            </a:r>
            <a:r>
              <a:rPr dirty="0" sz="1550" spc="-30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preference</a:t>
            </a:r>
            <a:r>
              <a:rPr dirty="0" sz="1550" spc="-3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trends</a:t>
            </a:r>
            <a:r>
              <a:rPr dirty="0" sz="1550" spc="-30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that</a:t>
            </a:r>
            <a:r>
              <a:rPr dirty="0" sz="1550" spc="-30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can</a:t>
            </a:r>
            <a:r>
              <a:rPr dirty="0" sz="1550" spc="-35">
                <a:solidFill>
                  <a:srgbClr val="3E3C3A"/>
                </a:solidFill>
              </a:rPr>
              <a:t> </a:t>
            </a:r>
            <a:r>
              <a:rPr dirty="0" sz="1550">
                <a:solidFill>
                  <a:srgbClr val="3E3C3A"/>
                </a:solidFill>
              </a:rPr>
              <a:t>inform</a:t>
            </a:r>
            <a:r>
              <a:rPr dirty="0" sz="1550" spc="-30">
                <a:solidFill>
                  <a:srgbClr val="3E3C3A"/>
                </a:solidFill>
              </a:rPr>
              <a:t> </a:t>
            </a:r>
            <a:r>
              <a:rPr dirty="0" sz="1550" spc="-10">
                <a:solidFill>
                  <a:srgbClr val="3E3C3A"/>
                </a:solidFill>
              </a:rPr>
              <a:t>inventory decisions.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011752"/>
            <a:ext cx="7674609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3120" algn="l"/>
                <a:tab pos="2571115" algn="l"/>
                <a:tab pos="5239385" algn="l"/>
              </a:tabLst>
            </a:pPr>
            <a:r>
              <a:rPr dirty="0" sz="3900" spc="-10"/>
              <a:t>OUTLET</a:t>
            </a:r>
            <a:r>
              <a:rPr dirty="0" sz="3900"/>
              <a:t>	</a:t>
            </a:r>
            <a:r>
              <a:rPr dirty="0" sz="3900" spc="-50"/>
              <a:t>&amp;</a:t>
            </a:r>
            <a:r>
              <a:rPr dirty="0" sz="3900"/>
              <a:t>	</a:t>
            </a:r>
            <a:r>
              <a:rPr dirty="0" sz="3900" spc="-10"/>
              <a:t>LOCATION</a:t>
            </a:r>
            <a:r>
              <a:rPr dirty="0" sz="3900"/>
              <a:t>	</a:t>
            </a:r>
            <a:r>
              <a:rPr dirty="0" sz="3900" spc="-10"/>
              <a:t>ANALYSIS</a:t>
            </a:r>
            <a:endParaRPr sz="3900"/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2119121"/>
            <a:ext cx="288734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SALES</a:t>
            </a:r>
            <a:r>
              <a:rPr dirty="0" sz="1950" spc="-30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BY</a:t>
            </a:r>
            <a:r>
              <a:rPr dirty="0" sz="1950" spc="-30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OUTLET</a:t>
            </a:r>
            <a:r>
              <a:rPr dirty="0" sz="1950" spc="-30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9F612C"/>
                </a:solidFill>
                <a:latin typeface="Arial"/>
                <a:cs typeface="Arial"/>
              </a:rPr>
              <a:t>SIZE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662834"/>
            <a:ext cx="6279349" cy="351638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81089" y="6385598"/>
            <a:ext cx="595249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Medium-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sized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lead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sales,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suggesting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optimal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balance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between</a:t>
            </a:r>
            <a:r>
              <a:rPr dirty="0" sz="155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inventory</a:t>
            </a:r>
            <a:r>
              <a:rPr dirty="0" sz="155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capacity</a:t>
            </a:r>
            <a:r>
              <a:rPr dirty="0" sz="155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operational</a:t>
            </a:r>
            <a:r>
              <a:rPr dirty="0" sz="155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efficiency.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52169" y="2119121"/>
            <a:ext cx="423545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SALES</a:t>
            </a:r>
            <a:r>
              <a:rPr dirty="0" sz="1950" spc="-3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BY</a:t>
            </a:r>
            <a:r>
              <a:rPr dirty="0" sz="1950" spc="-3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OUTLET</a:t>
            </a:r>
            <a:r>
              <a:rPr dirty="0" sz="1950" spc="-3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LOCATION</a:t>
            </a:r>
            <a:r>
              <a:rPr dirty="0" sz="1950" spc="-35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9F612C"/>
                </a:solidFill>
                <a:latin typeface="Arial"/>
                <a:cs typeface="Arial"/>
              </a:rPr>
              <a:t>TIER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564869" y="2662834"/>
            <a:ext cx="6279515" cy="3516629"/>
            <a:chOff x="7564869" y="2662834"/>
            <a:chExt cx="6279515" cy="3516629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4869" y="2662834"/>
              <a:ext cx="6279349" cy="328743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3840" y="5980747"/>
              <a:ext cx="198357" cy="19836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21048" y="5980747"/>
              <a:ext cx="198357" cy="19836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52668" y="5980747"/>
              <a:ext cx="198357" cy="198361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552169" y="5931763"/>
            <a:ext cx="6217920" cy="1114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35915">
              <a:lnSpc>
                <a:spcPct val="100000"/>
              </a:lnSpc>
              <a:spcBef>
                <a:spcPts val="100"/>
              </a:spcBef>
              <a:tabLst>
                <a:tab pos="1873250" algn="l"/>
                <a:tab pos="3404870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	Tier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2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	Tier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34400"/>
              </a:lnSpc>
              <a:spcBef>
                <a:spcPts val="1710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locations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surprisingly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generate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the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highest</a:t>
            </a:r>
            <a:r>
              <a:rPr dirty="0" sz="1550" spc="-3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share</a:t>
            </a:r>
            <a:r>
              <a:rPr dirty="0" sz="1550" spc="-3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of</a:t>
            </a:r>
            <a:r>
              <a:rPr dirty="0" sz="1550" spc="-3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550" spc="-3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,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pointing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underserved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market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demand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smaller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cities.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991035"/>
            <a:ext cx="6931025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3120" algn="l"/>
                <a:tab pos="3534410" algn="l"/>
              </a:tabLst>
            </a:pPr>
            <a:r>
              <a:rPr dirty="0" sz="3900" spc="-10"/>
              <a:t>OUTLET</a:t>
            </a:r>
            <a:r>
              <a:rPr dirty="0" sz="3900"/>
              <a:t>	</a:t>
            </a:r>
            <a:r>
              <a:rPr dirty="0" sz="3900" spc="-20"/>
              <a:t>TYPE</a:t>
            </a:r>
            <a:r>
              <a:rPr dirty="0" sz="3900"/>
              <a:t>	</a:t>
            </a:r>
            <a:r>
              <a:rPr dirty="0" sz="3900" spc="-10"/>
              <a:t>COMPARISON</a:t>
            </a:r>
            <a:endParaRPr sz="3900"/>
          </a:p>
        </p:txBody>
      </p:sp>
      <p:grpSp>
        <p:nvGrpSpPr>
          <p:cNvPr id="4" name="object 4" descr=""/>
          <p:cNvGrpSpPr/>
          <p:nvPr/>
        </p:nvGrpSpPr>
        <p:grpSpPr>
          <a:xfrm>
            <a:off x="782359" y="2538895"/>
            <a:ext cx="4238625" cy="3326129"/>
            <a:chOff x="782359" y="2538895"/>
            <a:chExt cx="4238625" cy="3326129"/>
          </a:xfrm>
        </p:grpSpPr>
        <p:sp>
          <p:nvSpPr>
            <p:cNvPr id="5" name="object 5" descr=""/>
            <p:cNvSpPr/>
            <p:nvPr/>
          </p:nvSpPr>
          <p:spPr>
            <a:xfrm>
              <a:off x="793789" y="2550325"/>
              <a:ext cx="4215765" cy="3303270"/>
            </a:xfrm>
            <a:custGeom>
              <a:avLst/>
              <a:gdLst/>
              <a:ahLst/>
              <a:cxnLst/>
              <a:rect l="l" t="t" r="r" b="b"/>
              <a:pathLst>
                <a:path w="4215765" h="3303270">
                  <a:moveTo>
                    <a:pt x="3917581" y="0"/>
                  </a:moveTo>
                  <a:lnTo>
                    <a:pt x="297703" y="0"/>
                  </a:lnTo>
                  <a:lnTo>
                    <a:pt x="249681" y="3926"/>
                  </a:lnTo>
                  <a:lnTo>
                    <a:pt x="204028" y="15283"/>
                  </a:lnTo>
                  <a:lnTo>
                    <a:pt x="161377" y="33437"/>
                  </a:lnTo>
                  <a:lnTo>
                    <a:pt x="122359" y="57757"/>
                  </a:lnTo>
                  <a:lnTo>
                    <a:pt x="87608" y="87609"/>
                  </a:lnTo>
                  <a:lnTo>
                    <a:pt x="57756" y="122360"/>
                  </a:lnTo>
                  <a:lnTo>
                    <a:pt x="33437" y="161377"/>
                  </a:lnTo>
                  <a:lnTo>
                    <a:pt x="15282" y="204029"/>
                  </a:lnTo>
                  <a:lnTo>
                    <a:pt x="3926" y="249680"/>
                  </a:lnTo>
                  <a:lnTo>
                    <a:pt x="0" y="297700"/>
                  </a:lnTo>
                  <a:lnTo>
                    <a:pt x="0" y="3004972"/>
                  </a:lnTo>
                  <a:lnTo>
                    <a:pt x="3926" y="3052992"/>
                  </a:lnTo>
                  <a:lnTo>
                    <a:pt x="15282" y="3098644"/>
                  </a:lnTo>
                  <a:lnTo>
                    <a:pt x="33437" y="3141295"/>
                  </a:lnTo>
                  <a:lnTo>
                    <a:pt x="57756" y="3180312"/>
                  </a:lnTo>
                  <a:lnTo>
                    <a:pt x="87608" y="3215063"/>
                  </a:lnTo>
                  <a:lnTo>
                    <a:pt x="122359" y="3244915"/>
                  </a:lnTo>
                  <a:lnTo>
                    <a:pt x="161377" y="3269235"/>
                  </a:lnTo>
                  <a:lnTo>
                    <a:pt x="204028" y="3287389"/>
                  </a:lnTo>
                  <a:lnTo>
                    <a:pt x="249681" y="3298746"/>
                  </a:lnTo>
                  <a:lnTo>
                    <a:pt x="297703" y="3302673"/>
                  </a:lnTo>
                  <a:lnTo>
                    <a:pt x="3917581" y="3302673"/>
                  </a:lnTo>
                  <a:lnTo>
                    <a:pt x="3965604" y="3298746"/>
                  </a:lnTo>
                  <a:lnTo>
                    <a:pt x="4011259" y="3287389"/>
                  </a:lnTo>
                  <a:lnTo>
                    <a:pt x="4053912" y="3269235"/>
                  </a:lnTo>
                  <a:lnTo>
                    <a:pt x="4092931" y="3244915"/>
                  </a:lnTo>
                  <a:lnTo>
                    <a:pt x="4127684" y="3215063"/>
                  </a:lnTo>
                  <a:lnTo>
                    <a:pt x="4157536" y="3180312"/>
                  </a:lnTo>
                  <a:lnTo>
                    <a:pt x="4181856" y="3141295"/>
                  </a:lnTo>
                  <a:lnTo>
                    <a:pt x="4200011" y="3098644"/>
                  </a:lnTo>
                  <a:lnTo>
                    <a:pt x="4211368" y="3052992"/>
                  </a:lnTo>
                  <a:lnTo>
                    <a:pt x="4215295" y="3004972"/>
                  </a:lnTo>
                  <a:lnTo>
                    <a:pt x="4215295" y="297700"/>
                  </a:lnTo>
                  <a:lnTo>
                    <a:pt x="4211368" y="249680"/>
                  </a:lnTo>
                  <a:lnTo>
                    <a:pt x="4200011" y="204029"/>
                  </a:lnTo>
                  <a:lnTo>
                    <a:pt x="4181856" y="161377"/>
                  </a:lnTo>
                  <a:lnTo>
                    <a:pt x="4157536" y="122360"/>
                  </a:lnTo>
                  <a:lnTo>
                    <a:pt x="4127684" y="87609"/>
                  </a:lnTo>
                  <a:lnTo>
                    <a:pt x="4092931" y="57757"/>
                  </a:lnTo>
                  <a:lnTo>
                    <a:pt x="4053912" y="33437"/>
                  </a:lnTo>
                  <a:lnTo>
                    <a:pt x="4011259" y="15283"/>
                  </a:lnTo>
                  <a:lnTo>
                    <a:pt x="3965604" y="3926"/>
                  </a:lnTo>
                  <a:lnTo>
                    <a:pt x="3917581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3789" y="2550325"/>
              <a:ext cx="4215765" cy="3303270"/>
            </a:xfrm>
            <a:custGeom>
              <a:avLst/>
              <a:gdLst/>
              <a:ahLst/>
              <a:cxnLst/>
              <a:rect l="l" t="t" r="r" b="b"/>
              <a:pathLst>
                <a:path w="4215765" h="3303270">
                  <a:moveTo>
                    <a:pt x="0" y="297700"/>
                  </a:moveTo>
                  <a:lnTo>
                    <a:pt x="3926" y="249680"/>
                  </a:lnTo>
                  <a:lnTo>
                    <a:pt x="15282" y="204029"/>
                  </a:lnTo>
                  <a:lnTo>
                    <a:pt x="33437" y="161377"/>
                  </a:lnTo>
                  <a:lnTo>
                    <a:pt x="57756" y="122360"/>
                  </a:lnTo>
                  <a:lnTo>
                    <a:pt x="87608" y="87609"/>
                  </a:lnTo>
                  <a:lnTo>
                    <a:pt x="122359" y="57757"/>
                  </a:lnTo>
                  <a:lnTo>
                    <a:pt x="161377" y="33437"/>
                  </a:lnTo>
                  <a:lnTo>
                    <a:pt x="204028" y="15283"/>
                  </a:lnTo>
                  <a:lnTo>
                    <a:pt x="249681" y="3926"/>
                  </a:lnTo>
                  <a:lnTo>
                    <a:pt x="297703" y="0"/>
                  </a:lnTo>
                  <a:lnTo>
                    <a:pt x="3917581" y="0"/>
                  </a:lnTo>
                  <a:lnTo>
                    <a:pt x="3965604" y="3926"/>
                  </a:lnTo>
                  <a:lnTo>
                    <a:pt x="4011259" y="15283"/>
                  </a:lnTo>
                  <a:lnTo>
                    <a:pt x="4053912" y="33437"/>
                  </a:lnTo>
                  <a:lnTo>
                    <a:pt x="4092931" y="57757"/>
                  </a:lnTo>
                  <a:lnTo>
                    <a:pt x="4127684" y="87609"/>
                  </a:lnTo>
                  <a:lnTo>
                    <a:pt x="4157536" y="122360"/>
                  </a:lnTo>
                  <a:lnTo>
                    <a:pt x="4181856" y="161377"/>
                  </a:lnTo>
                  <a:lnTo>
                    <a:pt x="4200011" y="204029"/>
                  </a:lnTo>
                  <a:lnTo>
                    <a:pt x="4211368" y="249680"/>
                  </a:lnTo>
                  <a:lnTo>
                    <a:pt x="4215295" y="297700"/>
                  </a:lnTo>
                  <a:lnTo>
                    <a:pt x="4215295" y="3004972"/>
                  </a:lnTo>
                  <a:lnTo>
                    <a:pt x="4211368" y="3052992"/>
                  </a:lnTo>
                  <a:lnTo>
                    <a:pt x="4200011" y="3098644"/>
                  </a:lnTo>
                  <a:lnTo>
                    <a:pt x="4181856" y="3141295"/>
                  </a:lnTo>
                  <a:lnTo>
                    <a:pt x="4157536" y="3180312"/>
                  </a:lnTo>
                  <a:lnTo>
                    <a:pt x="4127684" y="3215063"/>
                  </a:lnTo>
                  <a:lnTo>
                    <a:pt x="4092931" y="3244915"/>
                  </a:lnTo>
                  <a:lnTo>
                    <a:pt x="4053912" y="3269235"/>
                  </a:lnTo>
                  <a:lnTo>
                    <a:pt x="4011259" y="3287389"/>
                  </a:lnTo>
                  <a:lnTo>
                    <a:pt x="3965604" y="3298746"/>
                  </a:lnTo>
                  <a:lnTo>
                    <a:pt x="3917581" y="3302673"/>
                  </a:lnTo>
                  <a:lnTo>
                    <a:pt x="297703" y="3302673"/>
                  </a:lnTo>
                  <a:lnTo>
                    <a:pt x="249681" y="3298746"/>
                  </a:lnTo>
                  <a:lnTo>
                    <a:pt x="204028" y="3287389"/>
                  </a:lnTo>
                  <a:lnTo>
                    <a:pt x="161377" y="3269235"/>
                  </a:lnTo>
                  <a:lnTo>
                    <a:pt x="122359" y="3244915"/>
                  </a:lnTo>
                  <a:lnTo>
                    <a:pt x="87608" y="3215063"/>
                  </a:lnTo>
                  <a:lnTo>
                    <a:pt x="57756" y="3180312"/>
                  </a:lnTo>
                  <a:lnTo>
                    <a:pt x="33437" y="3141295"/>
                  </a:lnTo>
                  <a:lnTo>
                    <a:pt x="15282" y="3098644"/>
                  </a:lnTo>
                  <a:lnTo>
                    <a:pt x="3926" y="3052992"/>
                  </a:lnTo>
                  <a:lnTo>
                    <a:pt x="0" y="3004972"/>
                  </a:lnTo>
                  <a:lnTo>
                    <a:pt x="0" y="297700"/>
                  </a:lnTo>
                  <a:close/>
                </a:path>
              </a:pathLst>
            </a:custGeom>
            <a:ln w="22860">
              <a:solidFill>
                <a:srgbClr val="E2BB9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02308" y="3183890"/>
            <a:ext cx="3179445" cy="161290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Char char="•"/>
              <a:tabLst>
                <a:tab pos="354965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Lower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volume</a:t>
            </a:r>
            <a:endParaRPr sz="15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•"/>
              <a:tabLst>
                <a:tab pos="354965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Smaller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item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variety</a:t>
            </a:r>
            <a:endParaRPr sz="1550">
              <a:latin typeface="Arial"/>
              <a:cs typeface="Arial"/>
            </a:endParaRPr>
          </a:p>
          <a:p>
            <a:pPr marL="355600" marR="5080" indent="-342900">
              <a:lnSpc>
                <a:spcPct val="134400"/>
              </a:lnSpc>
              <a:buChar char="•"/>
              <a:tabLst>
                <a:tab pos="355600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Slightly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higher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avg.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rating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due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to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personalized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service</a:t>
            </a:r>
            <a:endParaRPr sz="15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•"/>
              <a:tabLst>
                <a:tab pos="354965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Strong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5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neighborhoods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196001" y="2538895"/>
            <a:ext cx="4238625" cy="3326129"/>
            <a:chOff x="5196001" y="2538895"/>
            <a:chExt cx="4238625" cy="3326129"/>
          </a:xfrm>
        </p:grpSpPr>
        <p:sp>
          <p:nvSpPr>
            <p:cNvPr id="9" name="object 9" descr=""/>
            <p:cNvSpPr/>
            <p:nvPr/>
          </p:nvSpPr>
          <p:spPr>
            <a:xfrm>
              <a:off x="5207431" y="2550325"/>
              <a:ext cx="4215765" cy="3303270"/>
            </a:xfrm>
            <a:custGeom>
              <a:avLst/>
              <a:gdLst/>
              <a:ahLst/>
              <a:cxnLst/>
              <a:rect l="l" t="t" r="r" b="b"/>
              <a:pathLst>
                <a:path w="4215765" h="3303270">
                  <a:moveTo>
                    <a:pt x="3917708" y="0"/>
                  </a:moveTo>
                  <a:lnTo>
                    <a:pt x="297703" y="0"/>
                  </a:lnTo>
                  <a:lnTo>
                    <a:pt x="249681" y="3926"/>
                  </a:lnTo>
                  <a:lnTo>
                    <a:pt x="204028" y="15283"/>
                  </a:lnTo>
                  <a:lnTo>
                    <a:pt x="161377" y="33437"/>
                  </a:lnTo>
                  <a:lnTo>
                    <a:pt x="122359" y="57757"/>
                  </a:lnTo>
                  <a:lnTo>
                    <a:pt x="87608" y="87609"/>
                  </a:lnTo>
                  <a:lnTo>
                    <a:pt x="57756" y="122360"/>
                  </a:lnTo>
                  <a:lnTo>
                    <a:pt x="33437" y="161377"/>
                  </a:lnTo>
                  <a:lnTo>
                    <a:pt x="15282" y="204029"/>
                  </a:lnTo>
                  <a:lnTo>
                    <a:pt x="3926" y="249680"/>
                  </a:lnTo>
                  <a:lnTo>
                    <a:pt x="0" y="297700"/>
                  </a:lnTo>
                  <a:lnTo>
                    <a:pt x="0" y="3004972"/>
                  </a:lnTo>
                  <a:lnTo>
                    <a:pt x="3926" y="3052992"/>
                  </a:lnTo>
                  <a:lnTo>
                    <a:pt x="15282" y="3098644"/>
                  </a:lnTo>
                  <a:lnTo>
                    <a:pt x="33437" y="3141295"/>
                  </a:lnTo>
                  <a:lnTo>
                    <a:pt x="57756" y="3180312"/>
                  </a:lnTo>
                  <a:lnTo>
                    <a:pt x="87608" y="3215063"/>
                  </a:lnTo>
                  <a:lnTo>
                    <a:pt x="122359" y="3244915"/>
                  </a:lnTo>
                  <a:lnTo>
                    <a:pt x="161377" y="3269235"/>
                  </a:lnTo>
                  <a:lnTo>
                    <a:pt x="204028" y="3287389"/>
                  </a:lnTo>
                  <a:lnTo>
                    <a:pt x="249681" y="3298746"/>
                  </a:lnTo>
                  <a:lnTo>
                    <a:pt x="297703" y="3302673"/>
                  </a:lnTo>
                  <a:lnTo>
                    <a:pt x="3917708" y="3302673"/>
                  </a:lnTo>
                  <a:lnTo>
                    <a:pt x="3965728" y="3298746"/>
                  </a:lnTo>
                  <a:lnTo>
                    <a:pt x="4011380" y="3287389"/>
                  </a:lnTo>
                  <a:lnTo>
                    <a:pt x="4054031" y="3269235"/>
                  </a:lnTo>
                  <a:lnTo>
                    <a:pt x="4093048" y="3244915"/>
                  </a:lnTo>
                  <a:lnTo>
                    <a:pt x="4127800" y="3215063"/>
                  </a:lnTo>
                  <a:lnTo>
                    <a:pt x="4157651" y="3180312"/>
                  </a:lnTo>
                  <a:lnTo>
                    <a:pt x="4181971" y="3141295"/>
                  </a:lnTo>
                  <a:lnTo>
                    <a:pt x="4200126" y="3098644"/>
                  </a:lnTo>
                  <a:lnTo>
                    <a:pt x="4211483" y="3052992"/>
                  </a:lnTo>
                  <a:lnTo>
                    <a:pt x="4215409" y="3004972"/>
                  </a:lnTo>
                  <a:lnTo>
                    <a:pt x="4215409" y="297700"/>
                  </a:lnTo>
                  <a:lnTo>
                    <a:pt x="4211483" y="249680"/>
                  </a:lnTo>
                  <a:lnTo>
                    <a:pt x="4200126" y="204029"/>
                  </a:lnTo>
                  <a:lnTo>
                    <a:pt x="4181971" y="161377"/>
                  </a:lnTo>
                  <a:lnTo>
                    <a:pt x="4157651" y="122360"/>
                  </a:lnTo>
                  <a:lnTo>
                    <a:pt x="4127800" y="87609"/>
                  </a:lnTo>
                  <a:lnTo>
                    <a:pt x="4093048" y="57757"/>
                  </a:lnTo>
                  <a:lnTo>
                    <a:pt x="4054031" y="33437"/>
                  </a:lnTo>
                  <a:lnTo>
                    <a:pt x="4011380" y="15283"/>
                  </a:lnTo>
                  <a:lnTo>
                    <a:pt x="3965728" y="3926"/>
                  </a:lnTo>
                  <a:lnTo>
                    <a:pt x="3917708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207431" y="2550325"/>
              <a:ext cx="4215765" cy="3303270"/>
            </a:xfrm>
            <a:custGeom>
              <a:avLst/>
              <a:gdLst/>
              <a:ahLst/>
              <a:cxnLst/>
              <a:rect l="l" t="t" r="r" b="b"/>
              <a:pathLst>
                <a:path w="4215765" h="3303270">
                  <a:moveTo>
                    <a:pt x="0" y="297700"/>
                  </a:moveTo>
                  <a:lnTo>
                    <a:pt x="3926" y="249680"/>
                  </a:lnTo>
                  <a:lnTo>
                    <a:pt x="15282" y="204029"/>
                  </a:lnTo>
                  <a:lnTo>
                    <a:pt x="33437" y="161377"/>
                  </a:lnTo>
                  <a:lnTo>
                    <a:pt x="57756" y="122360"/>
                  </a:lnTo>
                  <a:lnTo>
                    <a:pt x="87608" y="87609"/>
                  </a:lnTo>
                  <a:lnTo>
                    <a:pt x="122359" y="57757"/>
                  </a:lnTo>
                  <a:lnTo>
                    <a:pt x="161377" y="33437"/>
                  </a:lnTo>
                  <a:lnTo>
                    <a:pt x="204028" y="15283"/>
                  </a:lnTo>
                  <a:lnTo>
                    <a:pt x="249681" y="3926"/>
                  </a:lnTo>
                  <a:lnTo>
                    <a:pt x="297703" y="0"/>
                  </a:lnTo>
                  <a:lnTo>
                    <a:pt x="3917708" y="0"/>
                  </a:lnTo>
                  <a:lnTo>
                    <a:pt x="3965728" y="3926"/>
                  </a:lnTo>
                  <a:lnTo>
                    <a:pt x="4011380" y="15283"/>
                  </a:lnTo>
                  <a:lnTo>
                    <a:pt x="4054031" y="33437"/>
                  </a:lnTo>
                  <a:lnTo>
                    <a:pt x="4093048" y="57757"/>
                  </a:lnTo>
                  <a:lnTo>
                    <a:pt x="4127800" y="87609"/>
                  </a:lnTo>
                  <a:lnTo>
                    <a:pt x="4157651" y="122360"/>
                  </a:lnTo>
                  <a:lnTo>
                    <a:pt x="4181971" y="161377"/>
                  </a:lnTo>
                  <a:lnTo>
                    <a:pt x="4200126" y="204029"/>
                  </a:lnTo>
                  <a:lnTo>
                    <a:pt x="4211483" y="249680"/>
                  </a:lnTo>
                  <a:lnTo>
                    <a:pt x="4215409" y="297700"/>
                  </a:lnTo>
                  <a:lnTo>
                    <a:pt x="4215409" y="3004972"/>
                  </a:lnTo>
                  <a:lnTo>
                    <a:pt x="4211483" y="3052992"/>
                  </a:lnTo>
                  <a:lnTo>
                    <a:pt x="4200126" y="3098644"/>
                  </a:lnTo>
                  <a:lnTo>
                    <a:pt x="4181971" y="3141295"/>
                  </a:lnTo>
                  <a:lnTo>
                    <a:pt x="4157651" y="3180312"/>
                  </a:lnTo>
                  <a:lnTo>
                    <a:pt x="4127800" y="3215063"/>
                  </a:lnTo>
                  <a:lnTo>
                    <a:pt x="4093048" y="3244915"/>
                  </a:lnTo>
                  <a:lnTo>
                    <a:pt x="4054031" y="3269235"/>
                  </a:lnTo>
                  <a:lnTo>
                    <a:pt x="4011380" y="3287389"/>
                  </a:lnTo>
                  <a:lnTo>
                    <a:pt x="3965728" y="3298746"/>
                  </a:lnTo>
                  <a:lnTo>
                    <a:pt x="3917708" y="3302673"/>
                  </a:lnTo>
                  <a:lnTo>
                    <a:pt x="297703" y="3302673"/>
                  </a:lnTo>
                  <a:lnTo>
                    <a:pt x="249681" y="3298746"/>
                  </a:lnTo>
                  <a:lnTo>
                    <a:pt x="204028" y="3287389"/>
                  </a:lnTo>
                  <a:lnTo>
                    <a:pt x="161377" y="3269235"/>
                  </a:lnTo>
                  <a:lnTo>
                    <a:pt x="122359" y="3244915"/>
                  </a:lnTo>
                  <a:lnTo>
                    <a:pt x="87608" y="3215063"/>
                  </a:lnTo>
                  <a:lnTo>
                    <a:pt x="57756" y="3180312"/>
                  </a:lnTo>
                  <a:lnTo>
                    <a:pt x="33437" y="3141295"/>
                  </a:lnTo>
                  <a:lnTo>
                    <a:pt x="15282" y="3098644"/>
                  </a:lnTo>
                  <a:lnTo>
                    <a:pt x="3926" y="3052992"/>
                  </a:lnTo>
                  <a:lnTo>
                    <a:pt x="0" y="3004972"/>
                  </a:lnTo>
                  <a:lnTo>
                    <a:pt x="0" y="297700"/>
                  </a:lnTo>
                  <a:close/>
                </a:path>
              </a:pathLst>
            </a:custGeom>
            <a:ln w="22860">
              <a:solidFill>
                <a:srgbClr val="FFF8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415953" y="3183890"/>
            <a:ext cx="3658235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43204" indent="-342900">
              <a:lnSpc>
                <a:spcPct val="1344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Highest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among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all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outlet types</a:t>
            </a:r>
            <a:endParaRPr sz="15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•"/>
              <a:tabLst>
                <a:tab pos="354965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Largest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item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count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&amp;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product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diversity</a:t>
            </a:r>
            <a:endParaRPr sz="15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•"/>
              <a:tabLst>
                <a:tab pos="354965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Wide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footprint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across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all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tiers</a:t>
            </a:r>
            <a:endParaRPr sz="1550">
              <a:latin typeface="Arial"/>
              <a:cs typeface="Arial"/>
            </a:endParaRPr>
          </a:p>
          <a:p>
            <a:pPr marL="355600" marR="615950" indent="-342900">
              <a:lnSpc>
                <a:spcPct val="134400"/>
              </a:lnSpc>
              <a:buChar char="•"/>
              <a:tabLst>
                <a:tab pos="355600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Dominant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contributor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overall revenue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9609772" y="2538895"/>
            <a:ext cx="4238625" cy="3326129"/>
            <a:chOff x="9609772" y="2538895"/>
            <a:chExt cx="4238625" cy="3326129"/>
          </a:xfrm>
        </p:grpSpPr>
        <p:sp>
          <p:nvSpPr>
            <p:cNvPr id="13" name="object 13" descr=""/>
            <p:cNvSpPr/>
            <p:nvPr/>
          </p:nvSpPr>
          <p:spPr>
            <a:xfrm>
              <a:off x="9621202" y="2550325"/>
              <a:ext cx="4215765" cy="3303270"/>
            </a:xfrm>
            <a:custGeom>
              <a:avLst/>
              <a:gdLst/>
              <a:ahLst/>
              <a:cxnLst/>
              <a:rect l="l" t="t" r="r" b="b"/>
              <a:pathLst>
                <a:path w="4215765" h="3303270">
                  <a:moveTo>
                    <a:pt x="3917581" y="0"/>
                  </a:moveTo>
                  <a:lnTo>
                    <a:pt x="297703" y="0"/>
                  </a:lnTo>
                  <a:lnTo>
                    <a:pt x="249681" y="3926"/>
                  </a:lnTo>
                  <a:lnTo>
                    <a:pt x="204028" y="15283"/>
                  </a:lnTo>
                  <a:lnTo>
                    <a:pt x="161377" y="33437"/>
                  </a:lnTo>
                  <a:lnTo>
                    <a:pt x="122359" y="57757"/>
                  </a:lnTo>
                  <a:lnTo>
                    <a:pt x="87608" y="87609"/>
                  </a:lnTo>
                  <a:lnTo>
                    <a:pt x="57756" y="122360"/>
                  </a:lnTo>
                  <a:lnTo>
                    <a:pt x="33437" y="161377"/>
                  </a:lnTo>
                  <a:lnTo>
                    <a:pt x="15282" y="204029"/>
                  </a:lnTo>
                  <a:lnTo>
                    <a:pt x="3926" y="249680"/>
                  </a:lnTo>
                  <a:lnTo>
                    <a:pt x="0" y="297700"/>
                  </a:lnTo>
                  <a:lnTo>
                    <a:pt x="0" y="3004972"/>
                  </a:lnTo>
                  <a:lnTo>
                    <a:pt x="3926" y="3052992"/>
                  </a:lnTo>
                  <a:lnTo>
                    <a:pt x="15282" y="3098644"/>
                  </a:lnTo>
                  <a:lnTo>
                    <a:pt x="33437" y="3141295"/>
                  </a:lnTo>
                  <a:lnTo>
                    <a:pt x="57756" y="3180312"/>
                  </a:lnTo>
                  <a:lnTo>
                    <a:pt x="87608" y="3215063"/>
                  </a:lnTo>
                  <a:lnTo>
                    <a:pt x="122359" y="3244915"/>
                  </a:lnTo>
                  <a:lnTo>
                    <a:pt x="161377" y="3269235"/>
                  </a:lnTo>
                  <a:lnTo>
                    <a:pt x="204028" y="3287389"/>
                  </a:lnTo>
                  <a:lnTo>
                    <a:pt x="249681" y="3298746"/>
                  </a:lnTo>
                  <a:lnTo>
                    <a:pt x="297703" y="3302673"/>
                  </a:lnTo>
                  <a:lnTo>
                    <a:pt x="3917581" y="3302673"/>
                  </a:lnTo>
                  <a:lnTo>
                    <a:pt x="3965604" y="3298746"/>
                  </a:lnTo>
                  <a:lnTo>
                    <a:pt x="4011259" y="3287389"/>
                  </a:lnTo>
                  <a:lnTo>
                    <a:pt x="4053912" y="3269235"/>
                  </a:lnTo>
                  <a:lnTo>
                    <a:pt x="4092931" y="3244915"/>
                  </a:lnTo>
                  <a:lnTo>
                    <a:pt x="4127684" y="3215063"/>
                  </a:lnTo>
                  <a:lnTo>
                    <a:pt x="4157536" y="3180312"/>
                  </a:lnTo>
                  <a:lnTo>
                    <a:pt x="4181856" y="3141295"/>
                  </a:lnTo>
                  <a:lnTo>
                    <a:pt x="4200011" y="3098644"/>
                  </a:lnTo>
                  <a:lnTo>
                    <a:pt x="4211368" y="3052992"/>
                  </a:lnTo>
                  <a:lnTo>
                    <a:pt x="4215295" y="3004972"/>
                  </a:lnTo>
                  <a:lnTo>
                    <a:pt x="4215295" y="297700"/>
                  </a:lnTo>
                  <a:lnTo>
                    <a:pt x="4211368" y="249680"/>
                  </a:lnTo>
                  <a:lnTo>
                    <a:pt x="4200011" y="204029"/>
                  </a:lnTo>
                  <a:lnTo>
                    <a:pt x="4181856" y="161377"/>
                  </a:lnTo>
                  <a:lnTo>
                    <a:pt x="4157536" y="122360"/>
                  </a:lnTo>
                  <a:lnTo>
                    <a:pt x="4127684" y="87609"/>
                  </a:lnTo>
                  <a:lnTo>
                    <a:pt x="4092931" y="57757"/>
                  </a:lnTo>
                  <a:lnTo>
                    <a:pt x="4053912" y="33437"/>
                  </a:lnTo>
                  <a:lnTo>
                    <a:pt x="4011259" y="15283"/>
                  </a:lnTo>
                  <a:lnTo>
                    <a:pt x="3965604" y="3926"/>
                  </a:lnTo>
                  <a:lnTo>
                    <a:pt x="3917581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621202" y="2550325"/>
              <a:ext cx="4215765" cy="3303270"/>
            </a:xfrm>
            <a:custGeom>
              <a:avLst/>
              <a:gdLst/>
              <a:ahLst/>
              <a:cxnLst/>
              <a:rect l="l" t="t" r="r" b="b"/>
              <a:pathLst>
                <a:path w="4215765" h="3303270">
                  <a:moveTo>
                    <a:pt x="0" y="297700"/>
                  </a:moveTo>
                  <a:lnTo>
                    <a:pt x="3926" y="249680"/>
                  </a:lnTo>
                  <a:lnTo>
                    <a:pt x="15282" y="204029"/>
                  </a:lnTo>
                  <a:lnTo>
                    <a:pt x="33437" y="161377"/>
                  </a:lnTo>
                  <a:lnTo>
                    <a:pt x="57756" y="122360"/>
                  </a:lnTo>
                  <a:lnTo>
                    <a:pt x="87608" y="87609"/>
                  </a:lnTo>
                  <a:lnTo>
                    <a:pt x="122359" y="57757"/>
                  </a:lnTo>
                  <a:lnTo>
                    <a:pt x="161377" y="33437"/>
                  </a:lnTo>
                  <a:lnTo>
                    <a:pt x="204028" y="15283"/>
                  </a:lnTo>
                  <a:lnTo>
                    <a:pt x="249681" y="3926"/>
                  </a:lnTo>
                  <a:lnTo>
                    <a:pt x="297703" y="0"/>
                  </a:lnTo>
                  <a:lnTo>
                    <a:pt x="3917581" y="0"/>
                  </a:lnTo>
                  <a:lnTo>
                    <a:pt x="3965604" y="3926"/>
                  </a:lnTo>
                  <a:lnTo>
                    <a:pt x="4011259" y="15283"/>
                  </a:lnTo>
                  <a:lnTo>
                    <a:pt x="4053912" y="33437"/>
                  </a:lnTo>
                  <a:lnTo>
                    <a:pt x="4092931" y="57757"/>
                  </a:lnTo>
                  <a:lnTo>
                    <a:pt x="4127684" y="87609"/>
                  </a:lnTo>
                  <a:lnTo>
                    <a:pt x="4157536" y="122360"/>
                  </a:lnTo>
                  <a:lnTo>
                    <a:pt x="4181856" y="161377"/>
                  </a:lnTo>
                  <a:lnTo>
                    <a:pt x="4200011" y="204029"/>
                  </a:lnTo>
                  <a:lnTo>
                    <a:pt x="4211368" y="249680"/>
                  </a:lnTo>
                  <a:lnTo>
                    <a:pt x="4215295" y="297700"/>
                  </a:lnTo>
                  <a:lnTo>
                    <a:pt x="4215295" y="3004972"/>
                  </a:lnTo>
                  <a:lnTo>
                    <a:pt x="4211368" y="3052992"/>
                  </a:lnTo>
                  <a:lnTo>
                    <a:pt x="4200011" y="3098644"/>
                  </a:lnTo>
                  <a:lnTo>
                    <a:pt x="4181856" y="3141295"/>
                  </a:lnTo>
                  <a:lnTo>
                    <a:pt x="4157536" y="3180312"/>
                  </a:lnTo>
                  <a:lnTo>
                    <a:pt x="4127684" y="3215063"/>
                  </a:lnTo>
                  <a:lnTo>
                    <a:pt x="4092931" y="3244915"/>
                  </a:lnTo>
                  <a:lnTo>
                    <a:pt x="4053912" y="3269235"/>
                  </a:lnTo>
                  <a:lnTo>
                    <a:pt x="4011259" y="3287389"/>
                  </a:lnTo>
                  <a:lnTo>
                    <a:pt x="3965604" y="3298746"/>
                  </a:lnTo>
                  <a:lnTo>
                    <a:pt x="3917581" y="3302673"/>
                  </a:lnTo>
                  <a:lnTo>
                    <a:pt x="297703" y="3302673"/>
                  </a:lnTo>
                  <a:lnTo>
                    <a:pt x="249681" y="3298746"/>
                  </a:lnTo>
                  <a:lnTo>
                    <a:pt x="204028" y="3287389"/>
                  </a:lnTo>
                  <a:lnTo>
                    <a:pt x="161377" y="3269235"/>
                  </a:lnTo>
                  <a:lnTo>
                    <a:pt x="122359" y="3244915"/>
                  </a:lnTo>
                  <a:lnTo>
                    <a:pt x="87608" y="3215063"/>
                  </a:lnTo>
                  <a:lnTo>
                    <a:pt x="57756" y="3180312"/>
                  </a:lnTo>
                  <a:lnTo>
                    <a:pt x="33437" y="3141295"/>
                  </a:lnTo>
                  <a:lnTo>
                    <a:pt x="15282" y="3098644"/>
                  </a:lnTo>
                  <a:lnTo>
                    <a:pt x="3926" y="3052992"/>
                  </a:lnTo>
                  <a:lnTo>
                    <a:pt x="0" y="3004972"/>
                  </a:lnTo>
                  <a:lnTo>
                    <a:pt x="0" y="297700"/>
                  </a:lnTo>
                  <a:close/>
                </a:path>
              </a:pathLst>
            </a:custGeom>
            <a:ln w="22860">
              <a:solidFill>
                <a:srgbClr val="9F6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81089" y="2073948"/>
            <a:ext cx="12320905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Comparing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Grocery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Stores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vs.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Supermarket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Types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across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the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three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key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performance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dimensions: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Sales,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Item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Count,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Ratings.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15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5"/>
              </a:spcBef>
              <a:tabLst>
                <a:tab pos="4646930" algn="l"/>
                <a:tab pos="9060815" algn="l"/>
              </a:tabLst>
            </a:pP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GROCERY</a:t>
            </a:r>
            <a:r>
              <a:rPr dirty="0" sz="1950" spc="-7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3E3C3A"/>
                </a:solidFill>
                <a:latin typeface="Arial"/>
                <a:cs typeface="Arial"/>
              </a:rPr>
              <a:t>STORE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	SUPERMARKET</a:t>
            </a:r>
            <a:r>
              <a:rPr dirty="0" sz="19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TYPE</a:t>
            </a:r>
            <a:r>
              <a:rPr dirty="0" sz="195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3E3C3A"/>
                </a:solidFill>
                <a:latin typeface="Arial"/>
                <a:cs typeface="Arial"/>
              </a:rPr>
              <a:t>1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	SUPERMARKET</a:t>
            </a:r>
            <a:r>
              <a:rPr dirty="0" sz="19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TYPE</a:t>
            </a:r>
            <a:r>
              <a:rPr dirty="0" sz="19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2</a:t>
            </a:r>
            <a:r>
              <a:rPr dirty="0" sz="19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&amp;</a:t>
            </a:r>
            <a:r>
              <a:rPr dirty="0" sz="19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3E3C3A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829724" y="3183890"/>
            <a:ext cx="3660775" cy="224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12420" indent="-342900">
              <a:lnSpc>
                <a:spcPct val="1344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Moderate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with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niche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product offerings</a:t>
            </a:r>
            <a:endParaRPr sz="1550">
              <a:latin typeface="Arial"/>
              <a:cs typeface="Arial"/>
            </a:endParaRPr>
          </a:p>
          <a:p>
            <a:pPr marL="355600" marR="5080" indent="-342900">
              <a:lnSpc>
                <a:spcPct val="134400"/>
              </a:lnSpc>
              <a:buChar char="•"/>
              <a:tabLst>
                <a:tab pos="355600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Higher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avg.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ratings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compared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Type 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•"/>
              <a:tabLst>
                <a:tab pos="354965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Focused</a:t>
            </a:r>
            <a:r>
              <a:rPr dirty="0" sz="155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urban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presence</a:t>
            </a:r>
            <a:endParaRPr sz="1550">
              <a:latin typeface="Arial"/>
              <a:cs typeface="Arial"/>
            </a:endParaRPr>
          </a:p>
          <a:p>
            <a:pPr marL="355600" marR="683895" indent="-342900">
              <a:lnSpc>
                <a:spcPct val="134400"/>
              </a:lnSpc>
              <a:buChar char="•"/>
              <a:tabLst>
                <a:tab pos="355600" algn="l"/>
              </a:tabLst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Growth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potential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with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targeted inventory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93789" y="6076238"/>
            <a:ext cx="13042900" cy="1160780"/>
            <a:chOff x="793789" y="6076238"/>
            <a:chExt cx="13042900" cy="1160780"/>
          </a:xfrm>
        </p:grpSpPr>
        <p:sp>
          <p:nvSpPr>
            <p:cNvPr id="18" name="object 18" descr=""/>
            <p:cNvSpPr/>
            <p:nvPr/>
          </p:nvSpPr>
          <p:spPr>
            <a:xfrm>
              <a:off x="793789" y="6076238"/>
              <a:ext cx="13042900" cy="1160780"/>
            </a:xfrm>
            <a:custGeom>
              <a:avLst/>
              <a:gdLst/>
              <a:ahLst/>
              <a:cxnLst/>
              <a:rect l="l" t="t" r="r" b="b"/>
              <a:pathLst>
                <a:path w="13042900" h="1160779">
                  <a:moveTo>
                    <a:pt x="12745085" y="0"/>
                  </a:moveTo>
                  <a:lnTo>
                    <a:pt x="297705" y="0"/>
                  </a:lnTo>
                  <a:lnTo>
                    <a:pt x="249684" y="3926"/>
                  </a:lnTo>
                  <a:lnTo>
                    <a:pt x="204031" y="15283"/>
                  </a:lnTo>
                  <a:lnTo>
                    <a:pt x="161379" y="33437"/>
                  </a:lnTo>
                  <a:lnTo>
                    <a:pt x="122360" y="57757"/>
                  </a:lnTo>
                  <a:lnTo>
                    <a:pt x="87609" y="87609"/>
                  </a:lnTo>
                  <a:lnTo>
                    <a:pt x="57757" y="122360"/>
                  </a:lnTo>
                  <a:lnTo>
                    <a:pt x="33437" y="161377"/>
                  </a:lnTo>
                  <a:lnTo>
                    <a:pt x="15283" y="204029"/>
                  </a:lnTo>
                  <a:lnTo>
                    <a:pt x="3926" y="249680"/>
                  </a:lnTo>
                  <a:lnTo>
                    <a:pt x="0" y="297700"/>
                  </a:lnTo>
                  <a:lnTo>
                    <a:pt x="0" y="863028"/>
                  </a:lnTo>
                  <a:lnTo>
                    <a:pt x="3926" y="911051"/>
                  </a:lnTo>
                  <a:lnTo>
                    <a:pt x="15283" y="956706"/>
                  </a:lnTo>
                  <a:lnTo>
                    <a:pt x="33437" y="999359"/>
                  </a:lnTo>
                  <a:lnTo>
                    <a:pt x="57757" y="1038378"/>
                  </a:lnTo>
                  <a:lnTo>
                    <a:pt x="87609" y="1073130"/>
                  </a:lnTo>
                  <a:lnTo>
                    <a:pt x="122360" y="1102983"/>
                  </a:lnTo>
                  <a:lnTo>
                    <a:pt x="161379" y="1127303"/>
                  </a:lnTo>
                  <a:lnTo>
                    <a:pt x="204031" y="1145458"/>
                  </a:lnTo>
                  <a:lnTo>
                    <a:pt x="249684" y="1156815"/>
                  </a:lnTo>
                  <a:lnTo>
                    <a:pt x="297705" y="1160741"/>
                  </a:lnTo>
                  <a:lnTo>
                    <a:pt x="12745085" y="1160741"/>
                  </a:lnTo>
                  <a:lnTo>
                    <a:pt x="12793107" y="1156815"/>
                  </a:lnTo>
                  <a:lnTo>
                    <a:pt x="12838760" y="1145458"/>
                  </a:lnTo>
                  <a:lnTo>
                    <a:pt x="12881410" y="1127303"/>
                  </a:lnTo>
                  <a:lnTo>
                    <a:pt x="12920426" y="1102983"/>
                  </a:lnTo>
                  <a:lnTo>
                    <a:pt x="12955174" y="1073130"/>
                  </a:lnTo>
                  <a:lnTo>
                    <a:pt x="12985023" y="1038378"/>
                  </a:lnTo>
                  <a:lnTo>
                    <a:pt x="13009340" y="999359"/>
                  </a:lnTo>
                  <a:lnTo>
                    <a:pt x="13027492" y="956706"/>
                  </a:lnTo>
                  <a:lnTo>
                    <a:pt x="13038847" y="911051"/>
                  </a:lnTo>
                  <a:lnTo>
                    <a:pt x="13042773" y="863028"/>
                  </a:lnTo>
                  <a:lnTo>
                    <a:pt x="13042773" y="297700"/>
                  </a:lnTo>
                  <a:lnTo>
                    <a:pt x="13038847" y="249680"/>
                  </a:lnTo>
                  <a:lnTo>
                    <a:pt x="13027492" y="204029"/>
                  </a:lnTo>
                  <a:lnTo>
                    <a:pt x="13009340" y="161377"/>
                  </a:lnTo>
                  <a:lnTo>
                    <a:pt x="12985023" y="122360"/>
                  </a:lnTo>
                  <a:lnTo>
                    <a:pt x="12955174" y="87609"/>
                  </a:lnTo>
                  <a:lnTo>
                    <a:pt x="12920426" y="57757"/>
                  </a:lnTo>
                  <a:lnTo>
                    <a:pt x="12881410" y="33437"/>
                  </a:lnTo>
                  <a:lnTo>
                    <a:pt x="12838760" y="15283"/>
                  </a:lnTo>
                  <a:lnTo>
                    <a:pt x="12793107" y="3926"/>
                  </a:lnTo>
                  <a:lnTo>
                    <a:pt x="12745085" y="0"/>
                  </a:lnTo>
                  <a:close/>
                </a:path>
              </a:pathLst>
            </a:custGeom>
            <a:solidFill>
              <a:srgbClr val="EDD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2148" y="6371513"/>
              <a:ext cx="248006" cy="198361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425816" y="6307264"/>
            <a:ext cx="1132014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latin typeface="Arial"/>
                <a:cs typeface="Arial"/>
              </a:rPr>
              <a:t>Supermarket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Type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outperforms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all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other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outlet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types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both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total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sales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and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item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count,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making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it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the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highest-</a:t>
            </a:r>
            <a:r>
              <a:rPr dirty="0" sz="1550">
                <a:latin typeface="Arial"/>
                <a:cs typeface="Arial"/>
              </a:rPr>
              <a:t>priority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segment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for </a:t>
            </a:r>
            <a:r>
              <a:rPr dirty="0" sz="1550" spc="-10">
                <a:latin typeface="Arial"/>
                <a:cs typeface="Arial"/>
              </a:rPr>
              <a:t>investment.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5359" y="0"/>
            <a:ext cx="603504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8946" y="544735"/>
            <a:ext cx="5590540" cy="1049020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0"/>
              </a:spcBef>
            </a:pPr>
            <a:r>
              <a:rPr dirty="0"/>
              <a:t>KEY</a:t>
            </a:r>
            <a:r>
              <a:rPr dirty="0" spc="-35"/>
              <a:t> </a:t>
            </a:r>
            <a:r>
              <a:rPr dirty="0"/>
              <a:t>INSIGHTS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10"/>
              <a:t>BUSINESS RECOMMENDATIONS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68786" y="2375776"/>
            <a:ext cx="3609975" cy="1805305"/>
            <a:chOff x="768786" y="2375776"/>
            <a:chExt cx="3609975" cy="1805305"/>
          </a:xfrm>
        </p:grpSpPr>
        <p:sp>
          <p:nvSpPr>
            <p:cNvPr id="5" name="object 5" descr=""/>
            <p:cNvSpPr/>
            <p:nvPr/>
          </p:nvSpPr>
          <p:spPr>
            <a:xfrm>
              <a:off x="791646" y="2387206"/>
              <a:ext cx="3575685" cy="1782445"/>
            </a:xfrm>
            <a:custGeom>
              <a:avLst/>
              <a:gdLst/>
              <a:ahLst/>
              <a:cxnLst/>
              <a:rect l="l" t="t" r="r" b="b"/>
              <a:pathLst>
                <a:path w="3575685" h="1782445">
                  <a:moveTo>
                    <a:pt x="3465474" y="0"/>
                  </a:moveTo>
                  <a:lnTo>
                    <a:pt x="109728" y="0"/>
                  </a:lnTo>
                  <a:lnTo>
                    <a:pt x="67188" y="8679"/>
                  </a:lnTo>
                  <a:lnTo>
                    <a:pt x="32291" y="32289"/>
                  </a:lnTo>
                  <a:lnTo>
                    <a:pt x="8680" y="67186"/>
                  </a:lnTo>
                  <a:lnTo>
                    <a:pt x="0" y="109727"/>
                  </a:lnTo>
                  <a:lnTo>
                    <a:pt x="0" y="1672158"/>
                  </a:lnTo>
                  <a:lnTo>
                    <a:pt x="8680" y="1714699"/>
                  </a:lnTo>
                  <a:lnTo>
                    <a:pt x="32291" y="1749596"/>
                  </a:lnTo>
                  <a:lnTo>
                    <a:pt x="67188" y="1773206"/>
                  </a:lnTo>
                  <a:lnTo>
                    <a:pt x="109728" y="1781886"/>
                  </a:lnTo>
                  <a:lnTo>
                    <a:pt x="3465474" y="1781886"/>
                  </a:lnTo>
                  <a:lnTo>
                    <a:pt x="3508017" y="1773206"/>
                  </a:lnTo>
                  <a:lnTo>
                    <a:pt x="3542918" y="1749596"/>
                  </a:lnTo>
                  <a:lnTo>
                    <a:pt x="3566533" y="1714699"/>
                  </a:lnTo>
                  <a:lnTo>
                    <a:pt x="3575215" y="1672158"/>
                  </a:lnTo>
                  <a:lnTo>
                    <a:pt x="3575215" y="109727"/>
                  </a:lnTo>
                  <a:lnTo>
                    <a:pt x="3566533" y="67186"/>
                  </a:lnTo>
                  <a:lnTo>
                    <a:pt x="3542918" y="32289"/>
                  </a:lnTo>
                  <a:lnTo>
                    <a:pt x="3508017" y="8679"/>
                  </a:lnTo>
                  <a:lnTo>
                    <a:pt x="3465474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1646" y="2387206"/>
              <a:ext cx="3575685" cy="1782445"/>
            </a:xfrm>
            <a:custGeom>
              <a:avLst/>
              <a:gdLst/>
              <a:ahLst/>
              <a:cxnLst/>
              <a:rect l="l" t="t" r="r" b="b"/>
              <a:pathLst>
                <a:path w="3575685" h="1782445">
                  <a:moveTo>
                    <a:pt x="0" y="109727"/>
                  </a:moveTo>
                  <a:lnTo>
                    <a:pt x="8680" y="67186"/>
                  </a:lnTo>
                  <a:lnTo>
                    <a:pt x="32291" y="32289"/>
                  </a:lnTo>
                  <a:lnTo>
                    <a:pt x="67188" y="8679"/>
                  </a:lnTo>
                  <a:lnTo>
                    <a:pt x="109728" y="0"/>
                  </a:lnTo>
                  <a:lnTo>
                    <a:pt x="3465474" y="0"/>
                  </a:lnTo>
                  <a:lnTo>
                    <a:pt x="3508017" y="8679"/>
                  </a:lnTo>
                  <a:lnTo>
                    <a:pt x="3542918" y="32289"/>
                  </a:lnTo>
                  <a:lnTo>
                    <a:pt x="3566533" y="67186"/>
                  </a:lnTo>
                  <a:lnTo>
                    <a:pt x="3575215" y="109727"/>
                  </a:lnTo>
                  <a:lnTo>
                    <a:pt x="3575215" y="1672158"/>
                  </a:lnTo>
                  <a:lnTo>
                    <a:pt x="3566533" y="1714699"/>
                  </a:lnTo>
                  <a:lnTo>
                    <a:pt x="3542918" y="1749596"/>
                  </a:lnTo>
                  <a:lnTo>
                    <a:pt x="3508017" y="1773206"/>
                  </a:lnTo>
                  <a:lnTo>
                    <a:pt x="3465474" y="1781886"/>
                  </a:lnTo>
                  <a:lnTo>
                    <a:pt x="109728" y="1781886"/>
                  </a:lnTo>
                  <a:lnTo>
                    <a:pt x="67188" y="1773206"/>
                  </a:lnTo>
                  <a:lnTo>
                    <a:pt x="32291" y="1749596"/>
                  </a:lnTo>
                  <a:lnTo>
                    <a:pt x="8680" y="1714699"/>
                  </a:lnTo>
                  <a:lnTo>
                    <a:pt x="0" y="1672158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E2BB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68786" y="2387206"/>
              <a:ext cx="91440" cy="1782445"/>
            </a:xfrm>
            <a:custGeom>
              <a:avLst/>
              <a:gdLst/>
              <a:ahLst/>
              <a:cxnLst/>
              <a:rect l="l" t="t" r="r" b="b"/>
              <a:pathLst>
                <a:path w="91440" h="1782445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1736166"/>
                  </a:lnTo>
                  <a:lnTo>
                    <a:pt x="3616" y="1753891"/>
                  </a:lnTo>
                  <a:lnTo>
                    <a:pt x="13454" y="1768432"/>
                  </a:lnTo>
                  <a:lnTo>
                    <a:pt x="27994" y="1778269"/>
                  </a:lnTo>
                  <a:lnTo>
                    <a:pt x="45720" y="1781886"/>
                  </a:lnTo>
                  <a:lnTo>
                    <a:pt x="63444" y="1778269"/>
                  </a:lnTo>
                  <a:lnTo>
                    <a:pt x="77985" y="1768432"/>
                  </a:lnTo>
                  <a:lnTo>
                    <a:pt x="87823" y="1753891"/>
                  </a:lnTo>
                  <a:lnTo>
                    <a:pt x="91440" y="1736166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E2BB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38621" y="2570060"/>
            <a:ext cx="215646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LEADS</a:t>
            </a:r>
            <a:r>
              <a:rPr dirty="0" sz="1650" spc="-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38621" y="2967393"/>
            <a:ext cx="305244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cities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generate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the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highest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total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revenue,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revealing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untapped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demand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smaller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urban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markets.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8786" y="4300181"/>
            <a:ext cx="3609975" cy="1556385"/>
            <a:chOff x="768786" y="4300181"/>
            <a:chExt cx="3609975" cy="1556385"/>
          </a:xfrm>
        </p:grpSpPr>
        <p:sp>
          <p:nvSpPr>
            <p:cNvPr id="11" name="object 11" descr=""/>
            <p:cNvSpPr/>
            <p:nvPr/>
          </p:nvSpPr>
          <p:spPr>
            <a:xfrm>
              <a:off x="791646" y="4311611"/>
              <a:ext cx="3575685" cy="1533525"/>
            </a:xfrm>
            <a:custGeom>
              <a:avLst/>
              <a:gdLst/>
              <a:ahLst/>
              <a:cxnLst/>
              <a:rect l="l" t="t" r="r" b="b"/>
              <a:pathLst>
                <a:path w="3575685" h="1533525">
                  <a:moveTo>
                    <a:pt x="3465487" y="0"/>
                  </a:moveTo>
                  <a:lnTo>
                    <a:pt x="109721" y="0"/>
                  </a:lnTo>
                  <a:lnTo>
                    <a:pt x="67184" y="8679"/>
                  </a:lnTo>
                  <a:lnTo>
                    <a:pt x="32289" y="32288"/>
                  </a:lnTo>
                  <a:lnTo>
                    <a:pt x="8679" y="67181"/>
                  </a:lnTo>
                  <a:lnTo>
                    <a:pt x="0" y="109715"/>
                  </a:lnTo>
                  <a:lnTo>
                    <a:pt x="0" y="1423568"/>
                  </a:lnTo>
                  <a:lnTo>
                    <a:pt x="8679" y="1466102"/>
                  </a:lnTo>
                  <a:lnTo>
                    <a:pt x="32289" y="1500995"/>
                  </a:lnTo>
                  <a:lnTo>
                    <a:pt x="67184" y="1524604"/>
                  </a:lnTo>
                  <a:lnTo>
                    <a:pt x="109721" y="1533283"/>
                  </a:lnTo>
                  <a:lnTo>
                    <a:pt x="3465487" y="1533283"/>
                  </a:lnTo>
                  <a:lnTo>
                    <a:pt x="3508022" y="1524604"/>
                  </a:lnTo>
                  <a:lnTo>
                    <a:pt x="3542920" y="1500995"/>
                  </a:lnTo>
                  <a:lnTo>
                    <a:pt x="3566533" y="1466102"/>
                  </a:lnTo>
                  <a:lnTo>
                    <a:pt x="3575215" y="1423568"/>
                  </a:lnTo>
                  <a:lnTo>
                    <a:pt x="3575215" y="109715"/>
                  </a:lnTo>
                  <a:lnTo>
                    <a:pt x="3566533" y="67181"/>
                  </a:lnTo>
                  <a:lnTo>
                    <a:pt x="3542920" y="32288"/>
                  </a:lnTo>
                  <a:lnTo>
                    <a:pt x="3508022" y="8679"/>
                  </a:lnTo>
                  <a:lnTo>
                    <a:pt x="3465487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1646" y="4311611"/>
              <a:ext cx="3575685" cy="1533525"/>
            </a:xfrm>
            <a:custGeom>
              <a:avLst/>
              <a:gdLst/>
              <a:ahLst/>
              <a:cxnLst/>
              <a:rect l="l" t="t" r="r" b="b"/>
              <a:pathLst>
                <a:path w="3575685" h="1533525">
                  <a:moveTo>
                    <a:pt x="0" y="109715"/>
                  </a:moveTo>
                  <a:lnTo>
                    <a:pt x="8679" y="67181"/>
                  </a:lnTo>
                  <a:lnTo>
                    <a:pt x="32289" y="32288"/>
                  </a:lnTo>
                  <a:lnTo>
                    <a:pt x="67184" y="8679"/>
                  </a:lnTo>
                  <a:lnTo>
                    <a:pt x="109721" y="0"/>
                  </a:lnTo>
                  <a:lnTo>
                    <a:pt x="3465487" y="0"/>
                  </a:lnTo>
                  <a:lnTo>
                    <a:pt x="3508022" y="8679"/>
                  </a:lnTo>
                  <a:lnTo>
                    <a:pt x="3542920" y="32288"/>
                  </a:lnTo>
                  <a:lnTo>
                    <a:pt x="3566533" y="67181"/>
                  </a:lnTo>
                  <a:lnTo>
                    <a:pt x="3575215" y="109715"/>
                  </a:lnTo>
                  <a:lnTo>
                    <a:pt x="3575215" y="1423568"/>
                  </a:lnTo>
                  <a:lnTo>
                    <a:pt x="3566533" y="1466102"/>
                  </a:lnTo>
                  <a:lnTo>
                    <a:pt x="3542920" y="1500995"/>
                  </a:lnTo>
                  <a:lnTo>
                    <a:pt x="3508022" y="1524604"/>
                  </a:lnTo>
                  <a:lnTo>
                    <a:pt x="3465487" y="1533283"/>
                  </a:lnTo>
                  <a:lnTo>
                    <a:pt x="109721" y="1533283"/>
                  </a:lnTo>
                  <a:lnTo>
                    <a:pt x="67184" y="1524604"/>
                  </a:lnTo>
                  <a:lnTo>
                    <a:pt x="32289" y="1500995"/>
                  </a:lnTo>
                  <a:lnTo>
                    <a:pt x="8679" y="1466102"/>
                  </a:lnTo>
                  <a:lnTo>
                    <a:pt x="0" y="1423568"/>
                  </a:lnTo>
                  <a:lnTo>
                    <a:pt x="0" y="109715"/>
                  </a:lnTo>
                  <a:close/>
                </a:path>
              </a:pathLst>
            </a:custGeom>
            <a:ln w="22860">
              <a:solidFill>
                <a:srgbClr val="FFF8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8786" y="4311611"/>
              <a:ext cx="91440" cy="1533525"/>
            </a:xfrm>
            <a:custGeom>
              <a:avLst/>
              <a:gdLst/>
              <a:ahLst/>
              <a:cxnLst/>
              <a:rect l="l" t="t" r="r" b="b"/>
              <a:pathLst>
                <a:path w="91440" h="1533525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1487563"/>
                  </a:lnTo>
                  <a:lnTo>
                    <a:pt x="3616" y="1505289"/>
                  </a:lnTo>
                  <a:lnTo>
                    <a:pt x="13454" y="1519829"/>
                  </a:lnTo>
                  <a:lnTo>
                    <a:pt x="27994" y="1529667"/>
                  </a:lnTo>
                  <a:lnTo>
                    <a:pt x="45720" y="1533283"/>
                  </a:lnTo>
                  <a:lnTo>
                    <a:pt x="63444" y="1529667"/>
                  </a:lnTo>
                  <a:lnTo>
                    <a:pt x="77985" y="1519829"/>
                  </a:lnTo>
                  <a:lnTo>
                    <a:pt x="87823" y="1505289"/>
                  </a:lnTo>
                  <a:lnTo>
                    <a:pt x="91440" y="1487563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038621" y="4494466"/>
            <a:ext cx="200406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MEDIUM</a:t>
            </a:r>
            <a:r>
              <a:rPr dirty="0" sz="16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SIZE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3E3C3A"/>
                </a:solidFill>
                <a:latin typeface="Arial"/>
                <a:cs typeface="Arial"/>
              </a:rPr>
              <a:t>WINS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38621" y="4891798"/>
            <a:ext cx="312483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Medium-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sized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consistently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outperform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small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high-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capacity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outlets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efficiency.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68786" y="5975984"/>
            <a:ext cx="3609975" cy="1556385"/>
            <a:chOff x="768786" y="5975984"/>
            <a:chExt cx="3609975" cy="1556385"/>
          </a:xfrm>
        </p:grpSpPr>
        <p:sp>
          <p:nvSpPr>
            <p:cNvPr id="17" name="object 17" descr=""/>
            <p:cNvSpPr/>
            <p:nvPr/>
          </p:nvSpPr>
          <p:spPr>
            <a:xfrm>
              <a:off x="791646" y="5987414"/>
              <a:ext cx="3575685" cy="1533525"/>
            </a:xfrm>
            <a:custGeom>
              <a:avLst/>
              <a:gdLst/>
              <a:ahLst/>
              <a:cxnLst/>
              <a:rect l="l" t="t" r="r" b="b"/>
              <a:pathLst>
                <a:path w="3575685" h="1533525">
                  <a:moveTo>
                    <a:pt x="3465487" y="0"/>
                  </a:moveTo>
                  <a:lnTo>
                    <a:pt x="109721" y="0"/>
                  </a:lnTo>
                  <a:lnTo>
                    <a:pt x="67184" y="8679"/>
                  </a:lnTo>
                  <a:lnTo>
                    <a:pt x="32289" y="32288"/>
                  </a:lnTo>
                  <a:lnTo>
                    <a:pt x="8679" y="67181"/>
                  </a:lnTo>
                  <a:lnTo>
                    <a:pt x="0" y="109715"/>
                  </a:lnTo>
                  <a:lnTo>
                    <a:pt x="0" y="1423568"/>
                  </a:lnTo>
                  <a:lnTo>
                    <a:pt x="8679" y="1466102"/>
                  </a:lnTo>
                  <a:lnTo>
                    <a:pt x="32289" y="1500995"/>
                  </a:lnTo>
                  <a:lnTo>
                    <a:pt x="67184" y="1524604"/>
                  </a:lnTo>
                  <a:lnTo>
                    <a:pt x="109721" y="1533283"/>
                  </a:lnTo>
                  <a:lnTo>
                    <a:pt x="3465487" y="1533283"/>
                  </a:lnTo>
                  <a:lnTo>
                    <a:pt x="3508022" y="1524604"/>
                  </a:lnTo>
                  <a:lnTo>
                    <a:pt x="3542920" y="1500995"/>
                  </a:lnTo>
                  <a:lnTo>
                    <a:pt x="3566533" y="1466102"/>
                  </a:lnTo>
                  <a:lnTo>
                    <a:pt x="3575215" y="1423568"/>
                  </a:lnTo>
                  <a:lnTo>
                    <a:pt x="3575215" y="109715"/>
                  </a:lnTo>
                  <a:lnTo>
                    <a:pt x="3566533" y="67181"/>
                  </a:lnTo>
                  <a:lnTo>
                    <a:pt x="3542920" y="32288"/>
                  </a:lnTo>
                  <a:lnTo>
                    <a:pt x="3508022" y="8679"/>
                  </a:lnTo>
                  <a:lnTo>
                    <a:pt x="3465487" y="0"/>
                  </a:lnTo>
                  <a:close/>
                </a:path>
              </a:pathLst>
            </a:custGeom>
            <a:solidFill>
              <a:srgbClr val="FFF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1646" y="5987414"/>
              <a:ext cx="3575685" cy="1533525"/>
            </a:xfrm>
            <a:custGeom>
              <a:avLst/>
              <a:gdLst/>
              <a:ahLst/>
              <a:cxnLst/>
              <a:rect l="l" t="t" r="r" b="b"/>
              <a:pathLst>
                <a:path w="3575685" h="1533525">
                  <a:moveTo>
                    <a:pt x="0" y="109715"/>
                  </a:moveTo>
                  <a:lnTo>
                    <a:pt x="8679" y="67181"/>
                  </a:lnTo>
                  <a:lnTo>
                    <a:pt x="32289" y="32288"/>
                  </a:lnTo>
                  <a:lnTo>
                    <a:pt x="67184" y="8679"/>
                  </a:lnTo>
                  <a:lnTo>
                    <a:pt x="109721" y="0"/>
                  </a:lnTo>
                  <a:lnTo>
                    <a:pt x="3465487" y="0"/>
                  </a:lnTo>
                  <a:lnTo>
                    <a:pt x="3508022" y="8679"/>
                  </a:lnTo>
                  <a:lnTo>
                    <a:pt x="3542920" y="32288"/>
                  </a:lnTo>
                  <a:lnTo>
                    <a:pt x="3566533" y="67181"/>
                  </a:lnTo>
                  <a:lnTo>
                    <a:pt x="3575215" y="109715"/>
                  </a:lnTo>
                  <a:lnTo>
                    <a:pt x="3575215" y="1423568"/>
                  </a:lnTo>
                  <a:lnTo>
                    <a:pt x="3566533" y="1466102"/>
                  </a:lnTo>
                  <a:lnTo>
                    <a:pt x="3542920" y="1500995"/>
                  </a:lnTo>
                  <a:lnTo>
                    <a:pt x="3508022" y="1524604"/>
                  </a:lnTo>
                  <a:lnTo>
                    <a:pt x="3465487" y="1533283"/>
                  </a:lnTo>
                  <a:lnTo>
                    <a:pt x="109721" y="1533283"/>
                  </a:lnTo>
                  <a:lnTo>
                    <a:pt x="67184" y="1524604"/>
                  </a:lnTo>
                  <a:lnTo>
                    <a:pt x="32289" y="1500995"/>
                  </a:lnTo>
                  <a:lnTo>
                    <a:pt x="8679" y="1466102"/>
                  </a:lnTo>
                  <a:lnTo>
                    <a:pt x="0" y="1423568"/>
                  </a:lnTo>
                  <a:lnTo>
                    <a:pt x="0" y="109715"/>
                  </a:lnTo>
                  <a:close/>
                </a:path>
              </a:pathLst>
            </a:custGeom>
            <a:ln w="22860">
              <a:solidFill>
                <a:srgbClr val="9F61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8786" y="5987414"/>
              <a:ext cx="91440" cy="1533525"/>
            </a:xfrm>
            <a:custGeom>
              <a:avLst/>
              <a:gdLst/>
              <a:ahLst/>
              <a:cxnLst/>
              <a:rect l="l" t="t" r="r" b="b"/>
              <a:pathLst>
                <a:path w="91440" h="1533525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1487563"/>
                  </a:lnTo>
                  <a:lnTo>
                    <a:pt x="3616" y="1505289"/>
                  </a:lnTo>
                  <a:lnTo>
                    <a:pt x="13454" y="1519829"/>
                  </a:lnTo>
                  <a:lnTo>
                    <a:pt x="27994" y="1529667"/>
                  </a:lnTo>
                  <a:lnTo>
                    <a:pt x="45720" y="1533283"/>
                  </a:lnTo>
                  <a:lnTo>
                    <a:pt x="63444" y="1529667"/>
                  </a:lnTo>
                  <a:lnTo>
                    <a:pt x="77985" y="1519829"/>
                  </a:lnTo>
                  <a:lnTo>
                    <a:pt x="87823" y="1505289"/>
                  </a:lnTo>
                  <a:lnTo>
                    <a:pt x="91440" y="1487563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9F61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038621" y="6170269"/>
            <a:ext cx="253873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CATEGORY</a:t>
            </a:r>
            <a:r>
              <a:rPr dirty="0" sz="16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DOMINANCE</a:t>
            </a:r>
            <a:endParaRPr sz="16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38621" y="6567601"/>
            <a:ext cx="296862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Fruits,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Vegetables,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Snack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Foods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dominate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sales,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while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Regular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Fat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items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outsell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Low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Fat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alternatives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significantly.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78946" y="1940433"/>
            <a:ext cx="608838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5579" algn="l"/>
              </a:tabLst>
            </a:pPr>
            <a:r>
              <a:rPr dirty="0" sz="1650" spc="835">
                <a:latin typeface="Segoe UI Symbol"/>
                <a:cs typeface="Segoe UI Symbol"/>
              </a:rPr>
              <a:t>Q</a:t>
            </a:r>
            <a:r>
              <a:rPr dirty="0" sz="1650" spc="5"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9F612C"/>
                </a:solidFill>
                <a:latin typeface="Arial"/>
                <a:cs typeface="Arial"/>
              </a:rPr>
              <a:t>Key </a:t>
            </a:r>
            <a:r>
              <a:rPr dirty="0" sz="1650" spc="-10">
                <a:solidFill>
                  <a:srgbClr val="9F612C"/>
                </a:solidFill>
                <a:latin typeface="Arial"/>
                <a:cs typeface="Arial"/>
              </a:rPr>
              <a:t>Insights</a:t>
            </a:r>
            <a:r>
              <a:rPr dirty="0" sz="1650">
                <a:solidFill>
                  <a:srgbClr val="9F612C"/>
                </a:solidFill>
                <a:latin typeface="Arial"/>
                <a:cs typeface="Arial"/>
              </a:rPr>
              <a:t>	</a:t>
            </a:r>
            <a:r>
              <a:rPr dirty="0" sz="1650" spc="425">
                <a:latin typeface="Segoe UI Symbol"/>
                <a:cs typeface="Segoe UI Symbol"/>
              </a:rPr>
              <a:t>💡</a:t>
            </a:r>
            <a:r>
              <a:rPr dirty="0" sz="1650" spc="5">
                <a:latin typeface="Segoe UI Symbol"/>
                <a:cs typeface="Segoe UI Symbol"/>
              </a:rPr>
              <a:t> </a:t>
            </a:r>
            <a:r>
              <a:rPr dirty="0" sz="1650" spc="-10">
                <a:solidFill>
                  <a:srgbClr val="9F612C"/>
                </a:solidFill>
                <a:latin typeface="Arial"/>
                <a:cs typeface="Arial"/>
              </a:rPr>
              <a:t>Recommendations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784762" y="2387206"/>
            <a:ext cx="379095" cy="379095"/>
          </a:xfrm>
          <a:custGeom>
            <a:avLst/>
            <a:gdLst/>
            <a:ahLst/>
            <a:cxnLst/>
            <a:rect l="l" t="t" r="r" b="b"/>
            <a:pathLst>
              <a:path w="379095" h="379094">
                <a:moveTo>
                  <a:pt x="189250" y="0"/>
                </a:moveTo>
                <a:lnTo>
                  <a:pt x="139183" y="6809"/>
                </a:lnTo>
                <a:lnTo>
                  <a:pt x="94043" y="25994"/>
                </a:lnTo>
                <a:lnTo>
                  <a:pt x="55692" y="55694"/>
                </a:lnTo>
                <a:lnTo>
                  <a:pt x="25993" y="94045"/>
                </a:lnTo>
                <a:lnTo>
                  <a:pt x="6808" y="139187"/>
                </a:lnTo>
                <a:lnTo>
                  <a:pt x="0" y="189255"/>
                </a:lnTo>
                <a:lnTo>
                  <a:pt x="6808" y="239318"/>
                </a:lnTo>
                <a:lnTo>
                  <a:pt x="25993" y="284456"/>
                </a:lnTo>
                <a:lnTo>
                  <a:pt x="55692" y="322805"/>
                </a:lnTo>
                <a:lnTo>
                  <a:pt x="94043" y="352504"/>
                </a:lnTo>
                <a:lnTo>
                  <a:pt x="139183" y="371689"/>
                </a:lnTo>
                <a:lnTo>
                  <a:pt x="189250" y="378498"/>
                </a:lnTo>
                <a:lnTo>
                  <a:pt x="239316" y="371689"/>
                </a:lnTo>
                <a:lnTo>
                  <a:pt x="284456" y="352504"/>
                </a:lnTo>
                <a:lnTo>
                  <a:pt x="322806" y="322805"/>
                </a:lnTo>
                <a:lnTo>
                  <a:pt x="352505" y="284456"/>
                </a:lnTo>
                <a:lnTo>
                  <a:pt x="371690" y="239318"/>
                </a:lnTo>
                <a:lnTo>
                  <a:pt x="378499" y="189255"/>
                </a:lnTo>
                <a:lnTo>
                  <a:pt x="371690" y="139187"/>
                </a:lnTo>
                <a:lnTo>
                  <a:pt x="352505" y="94045"/>
                </a:lnTo>
                <a:lnTo>
                  <a:pt x="322806" y="55694"/>
                </a:lnTo>
                <a:lnTo>
                  <a:pt x="284456" y="25994"/>
                </a:lnTo>
                <a:lnTo>
                  <a:pt x="239316" y="6809"/>
                </a:lnTo>
                <a:lnTo>
                  <a:pt x="189250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892567" y="2360345"/>
            <a:ext cx="1631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293080" y="2436710"/>
            <a:ext cx="259905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EXPAND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650" spc="-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650" spc="-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650" spc="-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CITIES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293080" y="2834043"/>
            <a:ext cx="282384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Prioritize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new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openings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3E3C3A"/>
                </a:solidFill>
                <a:latin typeface="Arial"/>
                <a:cs typeface="Arial"/>
              </a:rPr>
              <a:t>3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locations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capitalize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on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high</a:t>
            </a:r>
            <a:r>
              <a:rPr dirty="0" sz="130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demand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low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competition.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784762" y="3881196"/>
            <a:ext cx="379095" cy="379095"/>
          </a:xfrm>
          <a:custGeom>
            <a:avLst/>
            <a:gdLst/>
            <a:ahLst/>
            <a:cxnLst/>
            <a:rect l="l" t="t" r="r" b="b"/>
            <a:pathLst>
              <a:path w="379095" h="379095">
                <a:moveTo>
                  <a:pt x="189250" y="0"/>
                </a:moveTo>
                <a:lnTo>
                  <a:pt x="139183" y="6809"/>
                </a:lnTo>
                <a:lnTo>
                  <a:pt x="94043" y="25994"/>
                </a:lnTo>
                <a:lnTo>
                  <a:pt x="55692" y="55694"/>
                </a:lnTo>
                <a:lnTo>
                  <a:pt x="25993" y="94045"/>
                </a:lnTo>
                <a:lnTo>
                  <a:pt x="6808" y="139187"/>
                </a:lnTo>
                <a:lnTo>
                  <a:pt x="0" y="189255"/>
                </a:lnTo>
                <a:lnTo>
                  <a:pt x="6808" y="239318"/>
                </a:lnTo>
                <a:lnTo>
                  <a:pt x="25993" y="284456"/>
                </a:lnTo>
                <a:lnTo>
                  <a:pt x="55692" y="322805"/>
                </a:lnTo>
                <a:lnTo>
                  <a:pt x="94043" y="352504"/>
                </a:lnTo>
                <a:lnTo>
                  <a:pt x="139183" y="371689"/>
                </a:lnTo>
                <a:lnTo>
                  <a:pt x="189250" y="378498"/>
                </a:lnTo>
                <a:lnTo>
                  <a:pt x="239316" y="371689"/>
                </a:lnTo>
                <a:lnTo>
                  <a:pt x="284456" y="352504"/>
                </a:lnTo>
                <a:lnTo>
                  <a:pt x="322806" y="322805"/>
                </a:lnTo>
                <a:lnTo>
                  <a:pt x="352505" y="284456"/>
                </a:lnTo>
                <a:lnTo>
                  <a:pt x="371690" y="239318"/>
                </a:lnTo>
                <a:lnTo>
                  <a:pt x="378499" y="189255"/>
                </a:lnTo>
                <a:lnTo>
                  <a:pt x="371690" y="139187"/>
                </a:lnTo>
                <a:lnTo>
                  <a:pt x="352505" y="94045"/>
                </a:lnTo>
                <a:lnTo>
                  <a:pt x="322806" y="55694"/>
                </a:lnTo>
                <a:lnTo>
                  <a:pt x="284456" y="25994"/>
                </a:lnTo>
                <a:lnTo>
                  <a:pt x="239316" y="6809"/>
                </a:lnTo>
                <a:lnTo>
                  <a:pt x="189250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892567" y="3854348"/>
            <a:ext cx="1631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293080" y="3930700"/>
            <a:ext cx="2830195" cy="53721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3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BOOST</a:t>
            </a:r>
            <a:r>
              <a:rPr dirty="0" sz="16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HIGH-PERFORMING CATEGORIES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293080" y="4590808"/>
            <a:ext cx="2840990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Increase</a:t>
            </a:r>
            <a:r>
              <a:rPr dirty="0" sz="1300" spc="-6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inventory</a:t>
            </a:r>
            <a:r>
              <a:rPr dirty="0" sz="130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depth</a:t>
            </a:r>
            <a:r>
              <a:rPr dirty="0" sz="130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in</a:t>
            </a:r>
            <a:r>
              <a:rPr dirty="0" sz="1300" spc="-5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Fruits,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Snacks,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Dairy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reduce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stockouts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300" spc="-7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maximize</a:t>
            </a:r>
            <a:r>
              <a:rPr dirty="0" sz="130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revenue</a:t>
            </a:r>
            <a:r>
              <a:rPr dirty="0" sz="130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E3C3A"/>
                </a:solidFill>
                <a:latin typeface="Arial"/>
                <a:cs typeface="Arial"/>
              </a:rPr>
              <a:t>capture.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4784762" y="5637961"/>
            <a:ext cx="379095" cy="379095"/>
          </a:xfrm>
          <a:custGeom>
            <a:avLst/>
            <a:gdLst/>
            <a:ahLst/>
            <a:cxnLst/>
            <a:rect l="l" t="t" r="r" b="b"/>
            <a:pathLst>
              <a:path w="379095" h="379095">
                <a:moveTo>
                  <a:pt x="189250" y="0"/>
                </a:moveTo>
                <a:lnTo>
                  <a:pt x="139183" y="6809"/>
                </a:lnTo>
                <a:lnTo>
                  <a:pt x="94043" y="25994"/>
                </a:lnTo>
                <a:lnTo>
                  <a:pt x="55692" y="55694"/>
                </a:lnTo>
                <a:lnTo>
                  <a:pt x="25993" y="94045"/>
                </a:lnTo>
                <a:lnTo>
                  <a:pt x="6808" y="139187"/>
                </a:lnTo>
                <a:lnTo>
                  <a:pt x="0" y="189255"/>
                </a:lnTo>
                <a:lnTo>
                  <a:pt x="6808" y="239318"/>
                </a:lnTo>
                <a:lnTo>
                  <a:pt x="25993" y="284456"/>
                </a:lnTo>
                <a:lnTo>
                  <a:pt x="55692" y="322805"/>
                </a:lnTo>
                <a:lnTo>
                  <a:pt x="94043" y="352504"/>
                </a:lnTo>
                <a:lnTo>
                  <a:pt x="139183" y="371689"/>
                </a:lnTo>
                <a:lnTo>
                  <a:pt x="189250" y="378498"/>
                </a:lnTo>
                <a:lnTo>
                  <a:pt x="239316" y="371689"/>
                </a:lnTo>
                <a:lnTo>
                  <a:pt x="284456" y="352504"/>
                </a:lnTo>
                <a:lnTo>
                  <a:pt x="322806" y="322805"/>
                </a:lnTo>
                <a:lnTo>
                  <a:pt x="352505" y="284456"/>
                </a:lnTo>
                <a:lnTo>
                  <a:pt x="371690" y="239318"/>
                </a:lnTo>
                <a:lnTo>
                  <a:pt x="378499" y="189255"/>
                </a:lnTo>
                <a:lnTo>
                  <a:pt x="371690" y="139187"/>
                </a:lnTo>
                <a:lnTo>
                  <a:pt x="352505" y="94045"/>
                </a:lnTo>
                <a:lnTo>
                  <a:pt x="322806" y="55694"/>
                </a:lnTo>
                <a:lnTo>
                  <a:pt x="284456" y="25994"/>
                </a:lnTo>
                <a:lnTo>
                  <a:pt x="239316" y="6809"/>
                </a:lnTo>
                <a:lnTo>
                  <a:pt x="189250" y="0"/>
                </a:lnTo>
                <a:close/>
              </a:path>
            </a:pathLst>
          </a:custGeom>
          <a:solidFill>
            <a:srgbClr val="9F6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4892567" y="5611114"/>
            <a:ext cx="1631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293080" y="5687466"/>
            <a:ext cx="2306955" cy="53721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30"/>
              </a:spcBef>
            </a:pPr>
            <a:r>
              <a:rPr dirty="0" sz="1650">
                <a:solidFill>
                  <a:srgbClr val="3E3C3A"/>
                </a:solidFill>
                <a:latin typeface="Arial"/>
                <a:cs typeface="Arial"/>
              </a:rPr>
              <a:t>IMPROVE</a:t>
            </a:r>
            <a:r>
              <a:rPr dirty="0" sz="1650" spc="-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LOW-</a:t>
            </a:r>
            <a:r>
              <a:rPr dirty="0" sz="1650" spc="-20">
                <a:solidFill>
                  <a:srgbClr val="3E3C3A"/>
                </a:solidFill>
                <a:latin typeface="Arial"/>
                <a:cs typeface="Arial"/>
              </a:rPr>
              <a:t>RATED </a:t>
            </a:r>
            <a:r>
              <a:rPr dirty="0" sz="1650" spc="-10">
                <a:solidFill>
                  <a:srgbClr val="3E3C3A"/>
                </a:solidFill>
                <a:latin typeface="Arial"/>
                <a:cs typeface="Arial"/>
              </a:rPr>
              <a:t>PRODUCTS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293080" y="6347574"/>
            <a:ext cx="289496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Audit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items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with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ratings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below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3.5</a:t>
            </a:r>
            <a:r>
              <a:rPr dirty="0" sz="130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and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either</a:t>
            </a:r>
            <a:r>
              <a:rPr dirty="0" sz="1300" spc="-7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improve</a:t>
            </a:r>
            <a:r>
              <a:rPr dirty="0" sz="130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quality,</a:t>
            </a:r>
            <a:r>
              <a:rPr dirty="0" sz="130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adjust</a:t>
            </a:r>
            <a:r>
              <a:rPr dirty="0" sz="130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pricing,</a:t>
            </a:r>
            <a:r>
              <a:rPr dirty="0" sz="1300" spc="-6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E3C3A"/>
                </a:solidFill>
                <a:latin typeface="Arial"/>
                <a:cs typeface="Arial"/>
              </a:rPr>
              <a:t>or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phase</a:t>
            </a:r>
            <a:r>
              <a:rPr dirty="0" sz="130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E3C3A"/>
                </a:solidFill>
                <a:latin typeface="Arial"/>
                <a:cs typeface="Arial"/>
              </a:rPr>
              <a:t>them</a:t>
            </a:r>
            <a:r>
              <a:rPr dirty="0" sz="130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E3C3A"/>
                </a:solidFill>
                <a:latin typeface="Arial"/>
                <a:cs typeface="Arial"/>
              </a:rPr>
              <a:t>out.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8F5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126410"/>
            <a:ext cx="681990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49954" algn="l"/>
                <a:tab pos="3917950" algn="l"/>
                <a:tab pos="5733415" algn="l"/>
              </a:tabLst>
            </a:pPr>
            <a:r>
              <a:rPr dirty="0" sz="3900" spc="-10"/>
              <a:t>CONCLUSION</a:t>
            </a:r>
            <a:r>
              <a:rPr dirty="0" sz="3900"/>
              <a:t>	</a:t>
            </a:r>
            <a:r>
              <a:rPr dirty="0" sz="3900" spc="-50"/>
              <a:t>&amp;</a:t>
            </a:r>
            <a:r>
              <a:rPr dirty="0" sz="3900"/>
              <a:t>	</a:t>
            </a:r>
            <a:r>
              <a:rPr dirty="0" sz="3900" spc="-10"/>
              <a:t>THANK</a:t>
            </a:r>
            <a:r>
              <a:rPr dirty="0" sz="3900"/>
              <a:t>	</a:t>
            </a:r>
            <a:r>
              <a:rPr dirty="0" sz="3900" spc="-25"/>
              <a:t>YOU</a:t>
            </a:r>
            <a:endParaRPr sz="3900"/>
          </a:p>
        </p:txBody>
      </p:sp>
      <p:sp>
        <p:nvSpPr>
          <p:cNvPr id="4" name="object 4" descr=""/>
          <p:cNvSpPr/>
          <p:nvPr/>
        </p:nvSpPr>
        <p:spPr>
          <a:xfrm>
            <a:off x="793788" y="2045728"/>
            <a:ext cx="13042900" cy="2103755"/>
          </a:xfrm>
          <a:custGeom>
            <a:avLst/>
            <a:gdLst/>
            <a:ahLst/>
            <a:cxnLst/>
            <a:rect l="l" t="t" r="r" b="b"/>
            <a:pathLst>
              <a:path w="13042900" h="2103754">
                <a:moveTo>
                  <a:pt x="13042773" y="297713"/>
                </a:moveTo>
                <a:lnTo>
                  <a:pt x="13038836" y="249694"/>
                </a:lnTo>
                <a:lnTo>
                  <a:pt x="13027482" y="204038"/>
                </a:lnTo>
                <a:lnTo>
                  <a:pt x="13009334" y="161391"/>
                </a:lnTo>
                <a:lnTo>
                  <a:pt x="12985014" y="122364"/>
                </a:lnTo>
                <a:lnTo>
                  <a:pt x="12955169" y="87617"/>
                </a:lnTo>
                <a:lnTo>
                  <a:pt x="12920421" y="57759"/>
                </a:lnTo>
                <a:lnTo>
                  <a:pt x="12881407" y="33439"/>
                </a:lnTo>
                <a:lnTo>
                  <a:pt x="12838760" y="15290"/>
                </a:lnTo>
                <a:lnTo>
                  <a:pt x="12793104" y="3937"/>
                </a:lnTo>
                <a:lnTo>
                  <a:pt x="12745085" y="0"/>
                </a:lnTo>
                <a:lnTo>
                  <a:pt x="6223698" y="0"/>
                </a:lnTo>
                <a:lnTo>
                  <a:pt x="297713" y="0"/>
                </a:lnTo>
                <a:lnTo>
                  <a:pt x="249694" y="3937"/>
                </a:lnTo>
                <a:lnTo>
                  <a:pt x="204038" y="15290"/>
                </a:lnTo>
                <a:lnTo>
                  <a:pt x="161378" y="33439"/>
                </a:lnTo>
                <a:lnTo>
                  <a:pt x="122364" y="57759"/>
                </a:lnTo>
                <a:lnTo>
                  <a:pt x="87604" y="87617"/>
                </a:lnTo>
                <a:lnTo>
                  <a:pt x="57759" y="122364"/>
                </a:lnTo>
                <a:lnTo>
                  <a:pt x="33439" y="161391"/>
                </a:lnTo>
                <a:lnTo>
                  <a:pt x="15278" y="204038"/>
                </a:lnTo>
                <a:lnTo>
                  <a:pt x="3924" y="249694"/>
                </a:lnTo>
                <a:lnTo>
                  <a:pt x="0" y="297713"/>
                </a:lnTo>
                <a:lnTo>
                  <a:pt x="0" y="1805990"/>
                </a:lnTo>
                <a:lnTo>
                  <a:pt x="3924" y="1854022"/>
                </a:lnTo>
                <a:lnTo>
                  <a:pt x="15278" y="1899678"/>
                </a:lnTo>
                <a:lnTo>
                  <a:pt x="33439" y="1942338"/>
                </a:lnTo>
                <a:lnTo>
                  <a:pt x="57759" y="1981352"/>
                </a:lnTo>
                <a:lnTo>
                  <a:pt x="87604" y="2016112"/>
                </a:lnTo>
                <a:lnTo>
                  <a:pt x="122364" y="2045970"/>
                </a:lnTo>
                <a:lnTo>
                  <a:pt x="161378" y="2070290"/>
                </a:lnTo>
                <a:lnTo>
                  <a:pt x="204038" y="2088438"/>
                </a:lnTo>
                <a:lnTo>
                  <a:pt x="249694" y="2099792"/>
                </a:lnTo>
                <a:lnTo>
                  <a:pt x="297713" y="2103716"/>
                </a:lnTo>
                <a:lnTo>
                  <a:pt x="6223698" y="2103716"/>
                </a:lnTo>
                <a:lnTo>
                  <a:pt x="12745085" y="2103716"/>
                </a:lnTo>
                <a:lnTo>
                  <a:pt x="12793104" y="2099792"/>
                </a:lnTo>
                <a:lnTo>
                  <a:pt x="12838760" y="2088438"/>
                </a:lnTo>
                <a:lnTo>
                  <a:pt x="12881407" y="2070290"/>
                </a:lnTo>
                <a:lnTo>
                  <a:pt x="12920421" y="2045970"/>
                </a:lnTo>
                <a:lnTo>
                  <a:pt x="12955169" y="2016112"/>
                </a:lnTo>
                <a:lnTo>
                  <a:pt x="12985014" y="1981352"/>
                </a:lnTo>
                <a:lnTo>
                  <a:pt x="13009334" y="1942338"/>
                </a:lnTo>
                <a:lnTo>
                  <a:pt x="13027482" y="1899678"/>
                </a:lnTo>
                <a:lnTo>
                  <a:pt x="13038849" y="1854022"/>
                </a:lnTo>
                <a:lnTo>
                  <a:pt x="13042773" y="1805990"/>
                </a:lnTo>
                <a:lnTo>
                  <a:pt x="13042773" y="297713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79448" y="2224925"/>
            <a:ext cx="5996305" cy="173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505">
                <a:latin typeface="Segoe UI Symbol"/>
                <a:cs typeface="Segoe UI Symbol"/>
              </a:rPr>
              <a:t>📊</a:t>
            </a:r>
            <a:r>
              <a:rPr dirty="0" sz="1950" spc="-20">
                <a:latin typeface="Segoe UI Symbol"/>
                <a:cs typeface="Segoe UI Symbol"/>
              </a:rPr>
              <a:t> </a:t>
            </a:r>
            <a:r>
              <a:rPr dirty="0" sz="1950" spc="-10">
                <a:solidFill>
                  <a:srgbClr val="3E3C3A"/>
                </a:solidFill>
                <a:latin typeface="Arial"/>
                <a:cs typeface="Arial"/>
              </a:rPr>
              <a:t>Dashboard</a:t>
            </a:r>
            <a:r>
              <a:rPr dirty="0" sz="19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E3C3A"/>
                </a:solidFill>
                <a:latin typeface="Arial"/>
                <a:cs typeface="Arial"/>
              </a:rPr>
              <a:t>Impact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34400"/>
              </a:lnSpc>
              <a:spcBef>
                <a:spcPts val="1115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The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Blinkit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Power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BI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dashboard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transforms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raw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data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into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clear,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actionable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insights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—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enabling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faster,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evidence-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based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decisions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for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expansion,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inventory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planning,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customer</a:t>
            </a:r>
            <a:r>
              <a:rPr dirty="0" sz="1550" spc="-4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satisfaction improvement.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315200" y="2045728"/>
            <a:ext cx="6521450" cy="2103755"/>
            <a:chOff x="7315200" y="2045728"/>
            <a:chExt cx="6521450" cy="2103755"/>
          </a:xfrm>
        </p:grpSpPr>
        <p:sp>
          <p:nvSpPr>
            <p:cNvPr id="7" name="object 7" descr=""/>
            <p:cNvSpPr/>
            <p:nvPr/>
          </p:nvSpPr>
          <p:spPr>
            <a:xfrm>
              <a:off x="7315200" y="2045728"/>
              <a:ext cx="6521450" cy="2103755"/>
            </a:xfrm>
            <a:custGeom>
              <a:avLst/>
              <a:gdLst/>
              <a:ahLst/>
              <a:cxnLst/>
              <a:rect l="l" t="t" r="r" b="b"/>
              <a:pathLst>
                <a:path w="6521450" h="2103754">
                  <a:moveTo>
                    <a:pt x="6521411" y="0"/>
                  </a:moveTo>
                  <a:lnTo>
                    <a:pt x="0" y="0"/>
                  </a:lnTo>
                  <a:lnTo>
                    <a:pt x="0" y="2103716"/>
                  </a:lnTo>
                  <a:lnTo>
                    <a:pt x="6521411" y="2103716"/>
                  </a:lnTo>
                  <a:lnTo>
                    <a:pt x="6521411" y="0"/>
                  </a:lnTo>
                  <a:close/>
                </a:path>
              </a:pathLst>
            </a:custGeom>
            <a:solidFill>
              <a:srgbClr val="E2BB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315200" y="2045728"/>
              <a:ext cx="22860" cy="2103755"/>
            </a:xfrm>
            <a:custGeom>
              <a:avLst/>
              <a:gdLst/>
              <a:ahLst/>
              <a:cxnLst/>
              <a:rect l="l" t="t" r="r" b="b"/>
              <a:pathLst>
                <a:path w="22859" h="2103754">
                  <a:moveTo>
                    <a:pt x="17700" y="0"/>
                  </a:moveTo>
                  <a:lnTo>
                    <a:pt x="5159" y="0"/>
                  </a:lnTo>
                  <a:lnTo>
                    <a:pt x="0" y="5156"/>
                  </a:lnTo>
                  <a:lnTo>
                    <a:pt x="0" y="11429"/>
                  </a:lnTo>
                  <a:lnTo>
                    <a:pt x="0" y="2098560"/>
                  </a:lnTo>
                  <a:lnTo>
                    <a:pt x="5159" y="2103716"/>
                  </a:lnTo>
                  <a:lnTo>
                    <a:pt x="17700" y="2103716"/>
                  </a:lnTo>
                  <a:lnTo>
                    <a:pt x="22860" y="2098560"/>
                  </a:lnTo>
                  <a:lnTo>
                    <a:pt x="22860" y="5156"/>
                  </a:lnTo>
                  <a:lnTo>
                    <a:pt x="17700" y="0"/>
                  </a:lnTo>
                  <a:close/>
                </a:path>
              </a:pathLst>
            </a:custGeom>
            <a:solidFill>
              <a:srgbClr val="E4DF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500861" y="2212809"/>
            <a:ext cx="5930265" cy="1746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555">
                <a:latin typeface="Segoe UI Symbol"/>
                <a:cs typeface="Segoe UI Symbol"/>
              </a:rPr>
              <a:t>o</a:t>
            </a:r>
            <a:r>
              <a:rPr dirty="0" sz="1950" spc="-20"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Summary</a:t>
            </a:r>
            <a:r>
              <a:rPr dirty="0" sz="19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E3C3A"/>
                </a:solidFill>
                <a:latin typeface="Arial"/>
                <a:cs typeface="Arial"/>
              </a:rPr>
              <a:t>of</a:t>
            </a:r>
            <a:r>
              <a:rPr dirty="0" sz="19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E3C3A"/>
                </a:solidFill>
                <a:latin typeface="Arial"/>
                <a:cs typeface="Arial"/>
              </a:rPr>
              <a:t>Findings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34400"/>
              </a:lnSpc>
              <a:spcBef>
                <a:spcPts val="1210"/>
              </a:spcBef>
            </a:pP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Tier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3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outlets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Medium-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sized</a:t>
            </a:r>
            <a:r>
              <a:rPr dirty="0" sz="1550" spc="-1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stores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are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the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top</a:t>
            </a:r>
            <a:r>
              <a:rPr dirty="0" sz="1550" spc="-2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revenue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contributors.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Supermarket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Type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1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leads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all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outlet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types.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Fruits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3E3C3A"/>
                </a:solidFill>
                <a:latin typeface="Arial"/>
                <a:cs typeface="Arial"/>
              </a:rPr>
              <a:t>&amp;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Snacks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dominate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item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sales.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focused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strategy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on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these</a:t>
            </a:r>
            <a:r>
              <a:rPr dirty="0" sz="1550" spc="-4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segments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can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significantly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boost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overall</a:t>
            </a:r>
            <a:r>
              <a:rPr dirty="0" sz="1550" spc="-3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performance.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93789" y="4471835"/>
            <a:ext cx="13042900" cy="32384"/>
          </a:xfrm>
          <a:custGeom>
            <a:avLst/>
            <a:gdLst/>
            <a:ahLst/>
            <a:cxnLst/>
            <a:rect l="l" t="t" r="r" b="b"/>
            <a:pathLst>
              <a:path w="13042900" h="32385">
                <a:moveTo>
                  <a:pt x="13042773" y="0"/>
                </a:moveTo>
                <a:lnTo>
                  <a:pt x="0" y="0"/>
                </a:lnTo>
                <a:lnTo>
                  <a:pt x="0" y="32384"/>
                </a:lnTo>
                <a:lnTo>
                  <a:pt x="13042773" y="32384"/>
                </a:lnTo>
                <a:lnTo>
                  <a:pt x="13042773" y="0"/>
                </a:lnTo>
                <a:close/>
              </a:path>
            </a:pathLst>
          </a:custGeom>
          <a:solidFill>
            <a:srgbClr val="3E3C3A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81089" y="4782629"/>
            <a:ext cx="230695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505">
                <a:latin typeface="Segoe UI Symbol"/>
                <a:cs typeface="Segoe UI Symbol"/>
              </a:rPr>
              <a:t>📬</a:t>
            </a:r>
            <a:r>
              <a:rPr dirty="0" sz="1950" spc="-35"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Connect</a:t>
            </a:r>
            <a:r>
              <a:rPr dirty="0" sz="1950" spc="-40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9F612C"/>
                </a:solidFill>
                <a:latin typeface="Arial"/>
                <a:cs typeface="Arial"/>
              </a:rPr>
              <a:t>With</a:t>
            </a:r>
            <a:r>
              <a:rPr dirty="0" sz="1950" spc="-40">
                <a:solidFill>
                  <a:srgbClr val="9F612C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9F612C"/>
                </a:solidFill>
                <a:latin typeface="Arial"/>
                <a:cs typeface="Arial"/>
              </a:rPr>
              <a:t>Me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93789" y="5417223"/>
            <a:ext cx="3112135" cy="1143635"/>
          </a:xfrm>
          <a:custGeom>
            <a:avLst/>
            <a:gdLst/>
            <a:ahLst/>
            <a:cxnLst/>
            <a:rect l="l" t="t" r="r" b="b"/>
            <a:pathLst>
              <a:path w="3112135" h="1143634">
                <a:moveTo>
                  <a:pt x="2814218" y="0"/>
                </a:moveTo>
                <a:lnTo>
                  <a:pt x="297715" y="0"/>
                </a:lnTo>
                <a:lnTo>
                  <a:pt x="249692" y="3926"/>
                </a:lnTo>
                <a:lnTo>
                  <a:pt x="204037" y="15283"/>
                </a:lnTo>
                <a:lnTo>
                  <a:pt x="161384" y="33438"/>
                </a:lnTo>
                <a:lnTo>
                  <a:pt x="122364" y="57758"/>
                </a:lnTo>
                <a:lnTo>
                  <a:pt x="87612" y="87610"/>
                </a:lnTo>
                <a:lnTo>
                  <a:pt x="57759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845756"/>
                </a:lnTo>
                <a:lnTo>
                  <a:pt x="3926" y="893779"/>
                </a:lnTo>
                <a:lnTo>
                  <a:pt x="15283" y="939434"/>
                </a:lnTo>
                <a:lnTo>
                  <a:pt x="33438" y="982087"/>
                </a:lnTo>
                <a:lnTo>
                  <a:pt x="57759" y="1021106"/>
                </a:lnTo>
                <a:lnTo>
                  <a:pt x="87612" y="1055858"/>
                </a:lnTo>
                <a:lnTo>
                  <a:pt x="122364" y="1085711"/>
                </a:lnTo>
                <a:lnTo>
                  <a:pt x="161384" y="1110031"/>
                </a:lnTo>
                <a:lnTo>
                  <a:pt x="204037" y="1128186"/>
                </a:lnTo>
                <a:lnTo>
                  <a:pt x="249692" y="1139543"/>
                </a:lnTo>
                <a:lnTo>
                  <a:pt x="297715" y="1143469"/>
                </a:lnTo>
                <a:lnTo>
                  <a:pt x="2814218" y="1143469"/>
                </a:lnTo>
                <a:lnTo>
                  <a:pt x="2862241" y="1139543"/>
                </a:lnTo>
                <a:lnTo>
                  <a:pt x="2907896" y="1128186"/>
                </a:lnTo>
                <a:lnTo>
                  <a:pt x="2950549" y="1110031"/>
                </a:lnTo>
                <a:lnTo>
                  <a:pt x="2989568" y="1085711"/>
                </a:lnTo>
                <a:lnTo>
                  <a:pt x="3024320" y="1055858"/>
                </a:lnTo>
                <a:lnTo>
                  <a:pt x="3054173" y="1021106"/>
                </a:lnTo>
                <a:lnTo>
                  <a:pt x="3078493" y="982087"/>
                </a:lnTo>
                <a:lnTo>
                  <a:pt x="3096648" y="939434"/>
                </a:lnTo>
                <a:lnTo>
                  <a:pt x="3108005" y="893779"/>
                </a:lnTo>
                <a:lnTo>
                  <a:pt x="3111931" y="845756"/>
                </a:lnTo>
                <a:lnTo>
                  <a:pt x="3111931" y="297713"/>
                </a:lnTo>
                <a:lnTo>
                  <a:pt x="3108005" y="249690"/>
                </a:lnTo>
                <a:lnTo>
                  <a:pt x="3096648" y="204035"/>
                </a:lnTo>
                <a:lnTo>
                  <a:pt x="3078493" y="161382"/>
                </a:lnTo>
                <a:lnTo>
                  <a:pt x="3054173" y="122363"/>
                </a:lnTo>
                <a:lnTo>
                  <a:pt x="3024320" y="87610"/>
                </a:lnTo>
                <a:lnTo>
                  <a:pt x="2989568" y="57758"/>
                </a:lnTo>
                <a:lnTo>
                  <a:pt x="2950549" y="33438"/>
                </a:lnTo>
                <a:lnTo>
                  <a:pt x="2907896" y="15283"/>
                </a:lnTo>
                <a:lnTo>
                  <a:pt x="2862241" y="3926"/>
                </a:lnTo>
                <a:lnTo>
                  <a:pt x="2814218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979448" y="5605271"/>
            <a:ext cx="2409825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latin typeface="Arial"/>
                <a:cs typeface="Arial"/>
              </a:rPr>
              <a:t>EMAIL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550" spc="-10">
                <a:latin typeface="Arial"/>
                <a:cs typeface="Arial"/>
              </a:rPr>
              <a:t>[</a:t>
            </a:r>
            <a:r>
              <a:rPr dirty="0" sz="1550" spc="-10">
                <a:latin typeface="Arial"/>
                <a:cs typeface="Arial"/>
                <a:hlinkClick r:id="rId2"/>
              </a:rPr>
              <a:t>your.email@example.com]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104081" y="5417223"/>
            <a:ext cx="3112135" cy="1143635"/>
          </a:xfrm>
          <a:custGeom>
            <a:avLst/>
            <a:gdLst/>
            <a:ahLst/>
            <a:cxnLst/>
            <a:rect l="l" t="t" r="r" b="b"/>
            <a:pathLst>
              <a:path w="3112134" h="1143634">
                <a:moveTo>
                  <a:pt x="2814218" y="0"/>
                </a:moveTo>
                <a:lnTo>
                  <a:pt x="297715" y="0"/>
                </a:lnTo>
                <a:lnTo>
                  <a:pt x="249692" y="3926"/>
                </a:lnTo>
                <a:lnTo>
                  <a:pt x="204037" y="15283"/>
                </a:lnTo>
                <a:lnTo>
                  <a:pt x="161384" y="33438"/>
                </a:lnTo>
                <a:lnTo>
                  <a:pt x="122364" y="57758"/>
                </a:lnTo>
                <a:lnTo>
                  <a:pt x="87612" y="87610"/>
                </a:lnTo>
                <a:lnTo>
                  <a:pt x="57759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845756"/>
                </a:lnTo>
                <a:lnTo>
                  <a:pt x="3926" y="893779"/>
                </a:lnTo>
                <a:lnTo>
                  <a:pt x="15283" y="939434"/>
                </a:lnTo>
                <a:lnTo>
                  <a:pt x="33438" y="982087"/>
                </a:lnTo>
                <a:lnTo>
                  <a:pt x="57759" y="1021106"/>
                </a:lnTo>
                <a:lnTo>
                  <a:pt x="87612" y="1055858"/>
                </a:lnTo>
                <a:lnTo>
                  <a:pt x="122364" y="1085711"/>
                </a:lnTo>
                <a:lnTo>
                  <a:pt x="161384" y="1110031"/>
                </a:lnTo>
                <a:lnTo>
                  <a:pt x="204037" y="1128186"/>
                </a:lnTo>
                <a:lnTo>
                  <a:pt x="249692" y="1139543"/>
                </a:lnTo>
                <a:lnTo>
                  <a:pt x="297715" y="1143469"/>
                </a:lnTo>
                <a:lnTo>
                  <a:pt x="2814218" y="1143469"/>
                </a:lnTo>
                <a:lnTo>
                  <a:pt x="2862241" y="1139543"/>
                </a:lnTo>
                <a:lnTo>
                  <a:pt x="2907896" y="1128186"/>
                </a:lnTo>
                <a:lnTo>
                  <a:pt x="2950549" y="1110031"/>
                </a:lnTo>
                <a:lnTo>
                  <a:pt x="2989568" y="1085711"/>
                </a:lnTo>
                <a:lnTo>
                  <a:pt x="3024320" y="1055858"/>
                </a:lnTo>
                <a:lnTo>
                  <a:pt x="3054173" y="1021106"/>
                </a:lnTo>
                <a:lnTo>
                  <a:pt x="3078493" y="982087"/>
                </a:lnTo>
                <a:lnTo>
                  <a:pt x="3096648" y="939434"/>
                </a:lnTo>
                <a:lnTo>
                  <a:pt x="3108005" y="893779"/>
                </a:lnTo>
                <a:lnTo>
                  <a:pt x="3111931" y="845756"/>
                </a:lnTo>
                <a:lnTo>
                  <a:pt x="3111931" y="297713"/>
                </a:lnTo>
                <a:lnTo>
                  <a:pt x="3108005" y="249690"/>
                </a:lnTo>
                <a:lnTo>
                  <a:pt x="3096648" y="204035"/>
                </a:lnTo>
                <a:lnTo>
                  <a:pt x="3078493" y="161382"/>
                </a:lnTo>
                <a:lnTo>
                  <a:pt x="3054173" y="122363"/>
                </a:lnTo>
                <a:lnTo>
                  <a:pt x="3024320" y="87610"/>
                </a:lnTo>
                <a:lnTo>
                  <a:pt x="2989568" y="57758"/>
                </a:lnTo>
                <a:lnTo>
                  <a:pt x="2950549" y="33438"/>
                </a:lnTo>
                <a:lnTo>
                  <a:pt x="2907896" y="15283"/>
                </a:lnTo>
                <a:lnTo>
                  <a:pt x="2862241" y="3926"/>
                </a:lnTo>
                <a:lnTo>
                  <a:pt x="2814218" y="0"/>
                </a:lnTo>
                <a:close/>
              </a:path>
            </a:pathLst>
          </a:custGeom>
          <a:solidFill>
            <a:srgbClr val="FFF8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289742" y="5605271"/>
            <a:ext cx="2406650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latin typeface="Arial"/>
                <a:cs typeface="Arial"/>
              </a:rPr>
              <a:t>LINKEDIN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550" spc="-10">
                <a:latin typeface="Arial"/>
                <a:cs typeface="Arial"/>
              </a:rPr>
              <a:t>[linkedin.com/in/yourprofile]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414374" y="5417223"/>
            <a:ext cx="3112135" cy="1143635"/>
          </a:xfrm>
          <a:custGeom>
            <a:avLst/>
            <a:gdLst/>
            <a:ahLst/>
            <a:cxnLst/>
            <a:rect l="l" t="t" r="r" b="b"/>
            <a:pathLst>
              <a:path w="3112134" h="1143634">
                <a:moveTo>
                  <a:pt x="2814218" y="0"/>
                </a:moveTo>
                <a:lnTo>
                  <a:pt x="297715" y="0"/>
                </a:lnTo>
                <a:lnTo>
                  <a:pt x="249692" y="3926"/>
                </a:lnTo>
                <a:lnTo>
                  <a:pt x="204037" y="15283"/>
                </a:lnTo>
                <a:lnTo>
                  <a:pt x="161384" y="33438"/>
                </a:lnTo>
                <a:lnTo>
                  <a:pt x="122364" y="57758"/>
                </a:lnTo>
                <a:lnTo>
                  <a:pt x="87612" y="87610"/>
                </a:lnTo>
                <a:lnTo>
                  <a:pt x="57759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845756"/>
                </a:lnTo>
                <a:lnTo>
                  <a:pt x="3926" y="893779"/>
                </a:lnTo>
                <a:lnTo>
                  <a:pt x="15283" y="939434"/>
                </a:lnTo>
                <a:lnTo>
                  <a:pt x="33438" y="982087"/>
                </a:lnTo>
                <a:lnTo>
                  <a:pt x="57759" y="1021106"/>
                </a:lnTo>
                <a:lnTo>
                  <a:pt x="87612" y="1055858"/>
                </a:lnTo>
                <a:lnTo>
                  <a:pt x="122364" y="1085711"/>
                </a:lnTo>
                <a:lnTo>
                  <a:pt x="161384" y="1110031"/>
                </a:lnTo>
                <a:lnTo>
                  <a:pt x="204037" y="1128186"/>
                </a:lnTo>
                <a:lnTo>
                  <a:pt x="249692" y="1139543"/>
                </a:lnTo>
                <a:lnTo>
                  <a:pt x="297715" y="1143469"/>
                </a:lnTo>
                <a:lnTo>
                  <a:pt x="2814218" y="1143469"/>
                </a:lnTo>
                <a:lnTo>
                  <a:pt x="2862241" y="1139543"/>
                </a:lnTo>
                <a:lnTo>
                  <a:pt x="2907896" y="1128186"/>
                </a:lnTo>
                <a:lnTo>
                  <a:pt x="2950549" y="1110031"/>
                </a:lnTo>
                <a:lnTo>
                  <a:pt x="2989568" y="1085711"/>
                </a:lnTo>
                <a:lnTo>
                  <a:pt x="3024320" y="1055858"/>
                </a:lnTo>
                <a:lnTo>
                  <a:pt x="3054173" y="1021106"/>
                </a:lnTo>
                <a:lnTo>
                  <a:pt x="3078493" y="982087"/>
                </a:lnTo>
                <a:lnTo>
                  <a:pt x="3096648" y="939434"/>
                </a:lnTo>
                <a:lnTo>
                  <a:pt x="3108005" y="893779"/>
                </a:lnTo>
                <a:lnTo>
                  <a:pt x="3111931" y="845756"/>
                </a:lnTo>
                <a:lnTo>
                  <a:pt x="3111931" y="297713"/>
                </a:lnTo>
                <a:lnTo>
                  <a:pt x="3108005" y="249690"/>
                </a:lnTo>
                <a:lnTo>
                  <a:pt x="3096648" y="204035"/>
                </a:lnTo>
                <a:lnTo>
                  <a:pt x="3078493" y="161382"/>
                </a:lnTo>
                <a:lnTo>
                  <a:pt x="3054173" y="122363"/>
                </a:lnTo>
                <a:lnTo>
                  <a:pt x="3024320" y="87610"/>
                </a:lnTo>
                <a:lnTo>
                  <a:pt x="2989568" y="57758"/>
                </a:lnTo>
                <a:lnTo>
                  <a:pt x="2950549" y="33438"/>
                </a:lnTo>
                <a:lnTo>
                  <a:pt x="2907896" y="15283"/>
                </a:lnTo>
                <a:lnTo>
                  <a:pt x="2862241" y="3926"/>
                </a:lnTo>
                <a:lnTo>
                  <a:pt x="2814218" y="0"/>
                </a:lnTo>
                <a:close/>
              </a:path>
            </a:pathLst>
          </a:custGeom>
          <a:solidFill>
            <a:srgbClr val="9F6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600035" y="5605271"/>
            <a:ext cx="2407285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solidFill>
                  <a:srgbClr val="FFFFFF"/>
                </a:solidFill>
                <a:latin typeface="Arial"/>
                <a:cs typeface="Arial"/>
              </a:rPr>
              <a:t>GITHUB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[github.com/yourusername]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724680" y="5417223"/>
            <a:ext cx="3112135" cy="1143635"/>
          </a:xfrm>
          <a:custGeom>
            <a:avLst/>
            <a:gdLst/>
            <a:ahLst/>
            <a:cxnLst/>
            <a:rect l="l" t="t" r="r" b="b"/>
            <a:pathLst>
              <a:path w="3112134" h="1143634">
                <a:moveTo>
                  <a:pt x="2814218" y="0"/>
                </a:moveTo>
                <a:lnTo>
                  <a:pt x="297715" y="0"/>
                </a:lnTo>
                <a:lnTo>
                  <a:pt x="249692" y="3926"/>
                </a:lnTo>
                <a:lnTo>
                  <a:pt x="204037" y="15283"/>
                </a:lnTo>
                <a:lnTo>
                  <a:pt x="161384" y="33438"/>
                </a:lnTo>
                <a:lnTo>
                  <a:pt x="122364" y="57758"/>
                </a:lnTo>
                <a:lnTo>
                  <a:pt x="87612" y="87610"/>
                </a:lnTo>
                <a:lnTo>
                  <a:pt x="57759" y="122363"/>
                </a:lnTo>
                <a:lnTo>
                  <a:pt x="33438" y="161382"/>
                </a:lnTo>
                <a:lnTo>
                  <a:pt x="15283" y="204035"/>
                </a:lnTo>
                <a:lnTo>
                  <a:pt x="3926" y="249690"/>
                </a:lnTo>
                <a:lnTo>
                  <a:pt x="0" y="297713"/>
                </a:lnTo>
                <a:lnTo>
                  <a:pt x="0" y="845756"/>
                </a:lnTo>
                <a:lnTo>
                  <a:pt x="3926" y="893779"/>
                </a:lnTo>
                <a:lnTo>
                  <a:pt x="15283" y="939434"/>
                </a:lnTo>
                <a:lnTo>
                  <a:pt x="33438" y="982087"/>
                </a:lnTo>
                <a:lnTo>
                  <a:pt x="57759" y="1021106"/>
                </a:lnTo>
                <a:lnTo>
                  <a:pt x="87612" y="1055858"/>
                </a:lnTo>
                <a:lnTo>
                  <a:pt x="122364" y="1085711"/>
                </a:lnTo>
                <a:lnTo>
                  <a:pt x="161384" y="1110031"/>
                </a:lnTo>
                <a:lnTo>
                  <a:pt x="204037" y="1128186"/>
                </a:lnTo>
                <a:lnTo>
                  <a:pt x="249692" y="1139543"/>
                </a:lnTo>
                <a:lnTo>
                  <a:pt x="297715" y="1143469"/>
                </a:lnTo>
                <a:lnTo>
                  <a:pt x="2814218" y="1143469"/>
                </a:lnTo>
                <a:lnTo>
                  <a:pt x="2862241" y="1139543"/>
                </a:lnTo>
                <a:lnTo>
                  <a:pt x="2907896" y="1128186"/>
                </a:lnTo>
                <a:lnTo>
                  <a:pt x="2950549" y="1110031"/>
                </a:lnTo>
                <a:lnTo>
                  <a:pt x="2989568" y="1085711"/>
                </a:lnTo>
                <a:lnTo>
                  <a:pt x="3024320" y="1055858"/>
                </a:lnTo>
                <a:lnTo>
                  <a:pt x="3054173" y="1021106"/>
                </a:lnTo>
                <a:lnTo>
                  <a:pt x="3078493" y="982087"/>
                </a:lnTo>
                <a:lnTo>
                  <a:pt x="3096648" y="939434"/>
                </a:lnTo>
                <a:lnTo>
                  <a:pt x="3108005" y="893779"/>
                </a:lnTo>
                <a:lnTo>
                  <a:pt x="3111931" y="845756"/>
                </a:lnTo>
                <a:lnTo>
                  <a:pt x="3111931" y="297713"/>
                </a:lnTo>
                <a:lnTo>
                  <a:pt x="3108005" y="249690"/>
                </a:lnTo>
                <a:lnTo>
                  <a:pt x="3096648" y="204035"/>
                </a:lnTo>
                <a:lnTo>
                  <a:pt x="3078493" y="161382"/>
                </a:lnTo>
                <a:lnTo>
                  <a:pt x="3054173" y="122363"/>
                </a:lnTo>
                <a:lnTo>
                  <a:pt x="3024320" y="87610"/>
                </a:lnTo>
                <a:lnTo>
                  <a:pt x="2989568" y="57758"/>
                </a:lnTo>
                <a:lnTo>
                  <a:pt x="2950549" y="33438"/>
                </a:lnTo>
                <a:lnTo>
                  <a:pt x="2907896" y="15283"/>
                </a:lnTo>
                <a:lnTo>
                  <a:pt x="2862241" y="3926"/>
                </a:lnTo>
                <a:lnTo>
                  <a:pt x="2814218" y="0"/>
                </a:lnTo>
                <a:close/>
              </a:path>
            </a:pathLst>
          </a:custGeom>
          <a:solidFill>
            <a:srgbClr val="E2BB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910328" y="5605271"/>
            <a:ext cx="1891030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latin typeface="Arial"/>
                <a:cs typeface="Arial"/>
              </a:rPr>
              <a:t>PHONE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550">
                <a:latin typeface="Arial"/>
                <a:cs typeface="Arial"/>
              </a:rPr>
              <a:t>[+91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XXXXX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XXXXX]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12430" y="6841083"/>
            <a:ext cx="1040638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Thank</a:t>
            </a:r>
            <a:r>
              <a:rPr dirty="0" sz="1550" spc="-3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you</a:t>
            </a:r>
            <a:r>
              <a:rPr dirty="0" sz="1550" spc="-2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for</a:t>
            </a:r>
            <a:r>
              <a:rPr dirty="0" sz="1550" spc="-2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viewing</a:t>
            </a:r>
            <a:r>
              <a:rPr dirty="0" sz="1550" spc="-3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this</a:t>
            </a:r>
            <a:r>
              <a:rPr dirty="0" sz="1550" spc="-25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E3C3A"/>
                </a:solidFill>
                <a:latin typeface="Arial"/>
                <a:cs typeface="Arial"/>
              </a:rPr>
              <a:t>project!</a:t>
            </a:r>
            <a:r>
              <a:rPr dirty="0" sz="1550" spc="-20" b="1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Open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to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Data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Analyst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opportunities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—</a:t>
            </a:r>
            <a:r>
              <a:rPr dirty="0" sz="1550" spc="-30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fresher,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passionate,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and</a:t>
            </a:r>
            <a:r>
              <a:rPr dirty="0" sz="1550" spc="-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E3C3A"/>
                </a:solidFill>
                <a:latin typeface="Arial"/>
                <a:cs typeface="Arial"/>
              </a:rPr>
              <a:t>results-</a:t>
            </a:r>
            <a:r>
              <a:rPr dirty="0" sz="1550">
                <a:solidFill>
                  <a:srgbClr val="3E3C3A"/>
                </a:solidFill>
                <a:latin typeface="Arial"/>
                <a:cs typeface="Arial"/>
              </a:rPr>
              <a:t>driven.</a:t>
            </a:r>
            <a:r>
              <a:rPr dirty="0" sz="1550" spc="25">
                <a:solidFill>
                  <a:srgbClr val="3E3C3A"/>
                </a:solidFill>
                <a:latin typeface="Arial"/>
                <a:cs typeface="Arial"/>
              </a:rPr>
              <a:t> </a:t>
            </a:r>
            <a:r>
              <a:rPr dirty="0" sz="1550" spc="350">
                <a:latin typeface="Segoe UI Symbol"/>
                <a:cs typeface="Segoe UI Symbol"/>
              </a:rPr>
              <a:t>🚀</a:t>
            </a:r>
            <a:endParaRPr sz="15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2026-03-25T10:52:32Z</dcterms:created>
  <dcterms:modified xsi:type="dcterms:W3CDTF">2026-03-25T10:52:32Z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LastSaved">
    <vt:filetime>2026-03-25T00:00:00Z</vt:filetime>
  </property>
  <property fmtid="{D5CDD505-2E9C-101B-9397-08002B2CF9AE}" pid="4" name="Producer">
    <vt:lpwstr>3-Heights(TM) PDF Security Shell 4.8.25.2 (http://www.pdf-tools.com)</vt:lpwstr>
  </property>
</Properties>
</file>